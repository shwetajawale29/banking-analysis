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69" r:id="rId2"/>
    <p:sldId id="256" r:id="rId3"/>
    <p:sldId id="257" r:id="rId4"/>
    <p:sldId id="258" r:id="rId5"/>
    <p:sldId id="259" r:id="rId6"/>
    <p:sldId id="262" r:id="rId7"/>
    <p:sldId id="261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92C45F-0402-4C82-9CB2-14E80B25C2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9BE310-F6D7-41D9-B54C-048B0B1D6D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Customer Name Normalization:</a:t>
          </a:r>
          <a:r>
            <a:rPr lang="en-US"/>
            <a:t> The Transaction Data's Customer Name field includes various honorifics (e.g., "Mr. Edgar Knight"), which must be stripped and standardized to ensure consistent matching.</a:t>
          </a:r>
        </a:p>
      </dgm:t>
    </dgm:pt>
    <dgm:pt modelId="{438D6FD0-29B6-4B95-A0CF-8873C74BE98E}" type="parTrans" cxnId="{46F7B607-0A6F-420D-917A-771EC00ADF6B}">
      <dgm:prSet/>
      <dgm:spPr/>
      <dgm:t>
        <a:bodyPr/>
        <a:lstStyle/>
        <a:p>
          <a:endParaRPr lang="en-US"/>
        </a:p>
      </dgm:t>
    </dgm:pt>
    <dgm:pt modelId="{68488015-D6C3-435B-8B47-CFBD29EA01CD}" type="sibTrans" cxnId="{46F7B607-0A6F-420D-917A-771EC00ADF6B}">
      <dgm:prSet/>
      <dgm:spPr/>
      <dgm:t>
        <a:bodyPr/>
        <a:lstStyle/>
        <a:p>
          <a:endParaRPr lang="en-US"/>
        </a:p>
      </dgm:t>
    </dgm:pt>
    <dgm:pt modelId="{7F1CA57F-4F5D-419C-9217-76CDEDE53B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Unstructured Transaction Descriptions:</a:t>
          </a:r>
          <a:r>
            <a:rPr lang="en-US" dirty="0"/>
            <a:t> The Description field is free text (e.g., "Online Shopping", "Bonus Payment"). This raw data is unusable for effective dashboard filtering.</a:t>
          </a:r>
        </a:p>
      </dgm:t>
    </dgm:pt>
    <dgm:pt modelId="{3F721DFC-657E-4E23-8500-636183F7080E}" type="parTrans" cxnId="{1ECF81B6-A1FD-4C2D-B6AB-37C292A2E5DB}">
      <dgm:prSet/>
      <dgm:spPr/>
      <dgm:t>
        <a:bodyPr/>
        <a:lstStyle/>
        <a:p>
          <a:endParaRPr lang="en-US"/>
        </a:p>
      </dgm:t>
    </dgm:pt>
    <dgm:pt modelId="{F895A17B-1F6B-4B51-81AB-22AFD275C1D0}" type="sibTrans" cxnId="{1ECF81B6-A1FD-4C2D-B6AB-37C292A2E5DB}">
      <dgm:prSet/>
      <dgm:spPr/>
      <dgm:t>
        <a:bodyPr/>
        <a:lstStyle/>
        <a:p>
          <a:endParaRPr lang="en-US"/>
        </a:p>
      </dgm:t>
    </dgm:pt>
    <dgm:pt modelId="{0D4B6D32-F4A0-47D7-A46F-615A5835E2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Required Categorization:</a:t>
          </a:r>
          <a:r>
            <a:rPr lang="en-US"/>
            <a:t> The description text must be mapped to standardized categories (e.g., "Income," "Utility Bill," "Retail Spending") using either dictionary matching or basic Natural Language Processing (NLP).</a:t>
          </a:r>
        </a:p>
      </dgm:t>
    </dgm:pt>
    <dgm:pt modelId="{E22E39D8-A971-47CA-80B7-DE980BEB2FA9}" type="parTrans" cxnId="{04D7E413-3A05-4632-984D-59ACA1784C76}">
      <dgm:prSet/>
      <dgm:spPr/>
      <dgm:t>
        <a:bodyPr/>
        <a:lstStyle/>
        <a:p>
          <a:endParaRPr lang="en-US"/>
        </a:p>
      </dgm:t>
    </dgm:pt>
    <dgm:pt modelId="{6FF17FCC-40FA-4E32-A163-0A5046DB3E56}" type="sibTrans" cxnId="{04D7E413-3A05-4632-984D-59ACA1784C76}">
      <dgm:prSet/>
      <dgm:spPr/>
      <dgm:t>
        <a:bodyPr/>
        <a:lstStyle/>
        <a:p>
          <a:endParaRPr lang="en-US"/>
        </a:p>
      </dgm:t>
    </dgm:pt>
    <dgm:pt modelId="{31DF5725-B5A3-4501-AE82-74359A6A468B}" type="pres">
      <dgm:prSet presAssocID="{0792C45F-0402-4C82-9CB2-14E80B25C29A}" presName="root" presStyleCnt="0">
        <dgm:presLayoutVars>
          <dgm:dir/>
          <dgm:resizeHandles val="exact"/>
        </dgm:presLayoutVars>
      </dgm:prSet>
      <dgm:spPr/>
    </dgm:pt>
    <dgm:pt modelId="{5DA21920-5A81-42BC-B21D-48FEBBC7D85F}" type="pres">
      <dgm:prSet presAssocID="{0B9BE310-F6D7-41D9-B54C-048B0B1D6D03}" presName="compNode" presStyleCnt="0"/>
      <dgm:spPr/>
    </dgm:pt>
    <dgm:pt modelId="{6B3CF5DB-91DC-4F73-8127-E49D69A3DB5C}" type="pres">
      <dgm:prSet presAssocID="{0B9BE310-F6D7-41D9-B54C-048B0B1D6D03}" presName="bgRect" presStyleLbl="bgShp" presStyleIdx="0" presStyleCnt="3"/>
      <dgm:spPr/>
    </dgm:pt>
    <dgm:pt modelId="{CCE8BEB8-6F9C-4C4B-8F9A-C452C6BC8123}" type="pres">
      <dgm:prSet presAssocID="{0B9BE310-F6D7-41D9-B54C-048B0B1D6D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2A12864-D56F-4A0A-BDC8-7EE1A588A1E8}" type="pres">
      <dgm:prSet presAssocID="{0B9BE310-F6D7-41D9-B54C-048B0B1D6D03}" presName="spaceRect" presStyleCnt="0"/>
      <dgm:spPr/>
    </dgm:pt>
    <dgm:pt modelId="{9ECCF89E-F277-45DF-98DB-AF1786895E23}" type="pres">
      <dgm:prSet presAssocID="{0B9BE310-F6D7-41D9-B54C-048B0B1D6D03}" presName="parTx" presStyleLbl="revTx" presStyleIdx="0" presStyleCnt="3">
        <dgm:presLayoutVars>
          <dgm:chMax val="0"/>
          <dgm:chPref val="0"/>
        </dgm:presLayoutVars>
      </dgm:prSet>
      <dgm:spPr/>
    </dgm:pt>
    <dgm:pt modelId="{F29DC604-1B80-4A92-BEF3-EC94A5E64DF7}" type="pres">
      <dgm:prSet presAssocID="{68488015-D6C3-435B-8B47-CFBD29EA01CD}" presName="sibTrans" presStyleCnt="0"/>
      <dgm:spPr/>
    </dgm:pt>
    <dgm:pt modelId="{6A6D0220-1AFE-4208-8FE9-05662A38847C}" type="pres">
      <dgm:prSet presAssocID="{7F1CA57F-4F5D-419C-9217-76CDEDE53B7E}" presName="compNode" presStyleCnt="0"/>
      <dgm:spPr/>
    </dgm:pt>
    <dgm:pt modelId="{9FBE1F0F-5574-434B-9CAB-6A05C3193D37}" type="pres">
      <dgm:prSet presAssocID="{7F1CA57F-4F5D-419C-9217-76CDEDE53B7E}" presName="bgRect" presStyleLbl="bgShp" presStyleIdx="1" presStyleCnt="3"/>
      <dgm:spPr/>
    </dgm:pt>
    <dgm:pt modelId="{1E74B020-1346-49E3-BA17-6263D66B325A}" type="pres">
      <dgm:prSet presAssocID="{7F1CA57F-4F5D-419C-9217-76CDEDE53B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BC860AC-4882-41D7-8612-1F13D8CFA0B8}" type="pres">
      <dgm:prSet presAssocID="{7F1CA57F-4F5D-419C-9217-76CDEDE53B7E}" presName="spaceRect" presStyleCnt="0"/>
      <dgm:spPr/>
    </dgm:pt>
    <dgm:pt modelId="{273EF47E-BA2A-4A1C-A1BD-1AB968E89C01}" type="pres">
      <dgm:prSet presAssocID="{7F1CA57F-4F5D-419C-9217-76CDEDE53B7E}" presName="parTx" presStyleLbl="revTx" presStyleIdx="1" presStyleCnt="3">
        <dgm:presLayoutVars>
          <dgm:chMax val="0"/>
          <dgm:chPref val="0"/>
        </dgm:presLayoutVars>
      </dgm:prSet>
      <dgm:spPr/>
    </dgm:pt>
    <dgm:pt modelId="{2D5E80B4-CF55-462A-AF47-8066349533C5}" type="pres">
      <dgm:prSet presAssocID="{F895A17B-1F6B-4B51-81AB-22AFD275C1D0}" presName="sibTrans" presStyleCnt="0"/>
      <dgm:spPr/>
    </dgm:pt>
    <dgm:pt modelId="{D4314E83-33C3-4795-AAF8-16FC795F4D73}" type="pres">
      <dgm:prSet presAssocID="{0D4B6D32-F4A0-47D7-A46F-615A5835E27A}" presName="compNode" presStyleCnt="0"/>
      <dgm:spPr/>
    </dgm:pt>
    <dgm:pt modelId="{17AA2208-1583-49FD-A10A-5CA071FCE3DF}" type="pres">
      <dgm:prSet presAssocID="{0D4B6D32-F4A0-47D7-A46F-615A5835E27A}" presName="bgRect" presStyleLbl="bgShp" presStyleIdx="2" presStyleCnt="3"/>
      <dgm:spPr/>
    </dgm:pt>
    <dgm:pt modelId="{489D34AF-8896-450C-8611-28D470D8AB93}" type="pres">
      <dgm:prSet presAssocID="{0D4B6D32-F4A0-47D7-A46F-615A5835E2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0E1B1DA-4348-4CAC-80C2-CCAB8D78E655}" type="pres">
      <dgm:prSet presAssocID="{0D4B6D32-F4A0-47D7-A46F-615A5835E27A}" presName="spaceRect" presStyleCnt="0"/>
      <dgm:spPr/>
    </dgm:pt>
    <dgm:pt modelId="{CAB6722C-2DFA-451E-889B-73B9F86CD9C2}" type="pres">
      <dgm:prSet presAssocID="{0D4B6D32-F4A0-47D7-A46F-615A5835E27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F7B607-0A6F-420D-917A-771EC00ADF6B}" srcId="{0792C45F-0402-4C82-9CB2-14E80B25C29A}" destId="{0B9BE310-F6D7-41D9-B54C-048B0B1D6D03}" srcOrd="0" destOrd="0" parTransId="{438D6FD0-29B6-4B95-A0CF-8873C74BE98E}" sibTransId="{68488015-D6C3-435B-8B47-CFBD29EA01CD}"/>
    <dgm:cxn modelId="{04D7E413-3A05-4632-984D-59ACA1784C76}" srcId="{0792C45F-0402-4C82-9CB2-14E80B25C29A}" destId="{0D4B6D32-F4A0-47D7-A46F-615A5835E27A}" srcOrd="2" destOrd="0" parTransId="{E22E39D8-A971-47CA-80B7-DE980BEB2FA9}" sibTransId="{6FF17FCC-40FA-4E32-A163-0A5046DB3E56}"/>
    <dgm:cxn modelId="{ADBA3C6E-7416-4691-B8F5-93B0FFD6E81F}" type="presOf" srcId="{0792C45F-0402-4C82-9CB2-14E80B25C29A}" destId="{31DF5725-B5A3-4501-AE82-74359A6A468B}" srcOrd="0" destOrd="0" presId="urn:microsoft.com/office/officeart/2018/2/layout/IconVerticalSolidList"/>
    <dgm:cxn modelId="{FA7C1481-D289-4D21-A276-E6BFF591A425}" type="presOf" srcId="{7F1CA57F-4F5D-419C-9217-76CDEDE53B7E}" destId="{273EF47E-BA2A-4A1C-A1BD-1AB968E89C01}" srcOrd="0" destOrd="0" presId="urn:microsoft.com/office/officeart/2018/2/layout/IconVerticalSolidList"/>
    <dgm:cxn modelId="{677CE799-FBFA-4366-97A4-55E3C28FA3E2}" type="presOf" srcId="{0B9BE310-F6D7-41D9-B54C-048B0B1D6D03}" destId="{9ECCF89E-F277-45DF-98DB-AF1786895E23}" srcOrd="0" destOrd="0" presId="urn:microsoft.com/office/officeart/2018/2/layout/IconVerticalSolidList"/>
    <dgm:cxn modelId="{1ECF81B6-A1FD-4C2D-B6AB-37C292A2E5DB}" srcId="{0792C45F-0402-4C82-9CB2-14E80B25C29A}" destId="{7F1CA57F-4F5D-419C-9217-76CDEDE53B7E}" srcOrd="1" destOrd="0" parTransId="{3F721DFC-657E-4E23-8500-636183F7080E}" sibTransId="{F895A17B-1F6B-4B51-81AB-22AFD275C1D0}"/>
    <dgm:cxn modelId="{40742EE0-C786-418F-B895-22343134B75D}" type="presOf" srcId="{0D4B6D32-F4A0-47D7-A46F-615A5835E27A}" destId="{CAB6722C-2DFA-451E-889B-73B9F86CD9C2}" srcOrd="0" destOrd="0" presId="urn:microsoft.com/office/officeart/2018/2/layout/IconVerticalSolidList"/>
    <dgm:cxn modelId="{E3DBB5ED-DDFA-4EF9-A61F-284188FEFA91}" type="presParOf" srcId="{31DF5725-B5A3-4501-AE82-74359A6A468B}" destId="{5DA21920-5A81-42BC-B21D-48FEBBC7D85F}" srcOrd="0" destOrd="0" presId="urn:microsoft.com/office/officeart/2018/2/layout/IconVerticalSolidList"/>
    <dgm:cxn modelId="{48B4A164-03F3-48BC-8D68-7F7A69163ECF}" type="presParOf" srcId="{5DA21920-5A81-42BC-B21D-48FEBBC7D85F}" destId="{6B3CF5DB-91DC-4F73-8127-E49D69A3DB5C}" srcOrd="0" destOrd="0" presId="urn:microsoft.com/office/officeart/2018/2/layout/IconVerticalSolidList"/>
    <dgm:cxn modelId="{67652C0B-536D-40A0-B493-E5CFEEF97079}" type="presParOf" srcId="{5DA21920-5A81-42BC-B21D-48FEBBC7D85F}" destId="{CCE8BEB8-6F9C-4C4B-8F9A-C452C6BC8123}" srcOrd="1" destOrd="0" presId="urn:microsoft.com/office/officeart/2018/2/layout/IconVerticalSolidList"/>
    <dgm:cxn modelId="{D992E456-7F53-4E1D-9EF9-D20DDE163927}" type="presParOf" srcId="{5DA21920-5A81-42BC-B21D-48FEBBC7D85F}" destId="{22A12864-D56F-4A0A-BDC8-7EE1A588A1E8}" srcOrd="2" destOrd="0" presId="urn:microsoft.com/office/officeart/2018/2/layout/IconVerticalSolidList"/>
    <dgm:cxn modelId="{51760FE9-F356-47DD-9E76-DA254E5358C8}" type="presParOf" srcId="{5DA21920-5A81-42BC-B21D-48FEBBC7D85F}" destId="{9ECCF89E-F277-45DF-98DB-AF1786895E23}" srcOrd="3" destOrd="0" presId="urn:microsoft.com/office/officeart/2018/2/layout/IconVerticalSolidList"/>
    <dgm:cxn modelId="{21F1E36C-86CD-4E35-A591-DC06ED8F23DE}" type="presParOf" srcId="{31DF5725-B5A3-4501-AE82-74359A6A468B}" destId="{F29DC604-1B80-4A92-BEF3-EC94A5E64DF7}" srcOrd="1" destOrd="0" presId="urn:microsoft.com/office/officeart/2018/2/layout/IconVerticalSolidList"/>
    <dgm:cxn modelId="{992FC493-0C1F-4AAA-A090-3123D8C78063}" type="presParOf" srcId="{31DF5725-B5A3-4501-AE82-74359A6A468B}" destId="{6A6D0220-1AFE-4208-8FE9-05662A38847C}" srcOrd="2" destOrd="0" presId="urn:microsoft.com/office/officeart/2018/2/layout/IconVerticalSolidList"/>
    <dgm:cxn modelId="{268C5E70-682C-484D-858A-EF29C9153B2B}" type="presParOf" srcId="{6A6D0220-1AFE-4208-8FE9-05662A38847C}" destId="{9FBE1F0F-5574-434B-9CAB-6A05C3193D37}" srcOrd="0" destOrd="0" presId="urn:microsoft.com/office/officeart/2018/2/layout/IconVerticalSolidList"/>
    <dgm:cxn modelId="{AE156331-F197-4319-8D61-463B6949CEB6}" type="presParOf" srcId="{6A6D0220-1AFE-4208-8FE9-05662A38847C}" destId="{1E74B020-1346-49E3-BA17-6263D66B325A}" srcOrd="1" destOrd="0" presId="urn:microsoft.com/office/officeart/2018/2/layout/IconVerticalSolidList"/>
    <dgm:cxn modelId="{70BE9987-9D25-427E-BB66-265EEEF01BCD}" type="presParOf" srcId="{6A6D0220-1AFE-4208-8FE9-05662A38847C}" destId="{6BC860AC-4882-41D7-8612-1F13D8CFA0B8}" srcOrd="2" destOrd="0" presId="urn:microsoft.com/office/officeart/2018/2/layout/IconVerticalSolidList"/>
    <dgm:cxn modelId="{27362F1E-AE1D-4A0E-BCE1-34B60F66BEA8}" type="presParOf" srcId="{6A6D0220-1AFE-4208-8FE9-05662A38847C}" destId="{273EF47E-BA2A-4A1C-A1BD-1AB968E89C01}" srcOrd="3" destOrd="0" presId="urn:microsoft.com/office/officeart/2018/2/layout/IconVerticalSolidList"/>
    <dgm:cxn modelId="{2426EA69-7F16-474E-A5D4-1699A58C5A02}" type="presParOf" srcId="{31DF5725-B5A3-4501-AE82-74359A6A468B}" destId="{2D5E80B4-CF55-462A-AF47-8066349533C5}" srcOrd="3" destOrd="0" presId="urn:microsoft.com/office/officeart/2018/2/layout/IconVerticalSolidList"/>
    <dgm:cxn modelId="{A66678F1-5840-4B08-BFA0-F5518F471708}" type="presParOf" srcId="{31DF5725-B5A3-4501-AE82-74359A6A468B}" destId="{D4314E83-33C3-4795-AAF8-16FC795F4D73}" srcOrd="4" destOrd="0" presId="urn:microsoft.com/office/officeart/2018/2/layout/IconVerticalSolidList"/>
    <dgm:cxn modelId="{C5D0AC26-30EB-48C4-9671-761D112762E4}" type="presParOf" srcId="{D4314E83-33C3-4795-AAF8-16FC795F4D73}" destId="{17AA2208-1583-49FD-A10A-5CA071FCE3DF}" srcOrd="0" destOrd="0" presId="urn:microsoft.com/office/officeart/2018/2/layout/IconVerticalSolidList"/>
    <dgm:cxn modelId="{4D5360FD-7F7F-4783-B543-DA8926F47C7A}" type="presParOf" srcId="{D4314E83-33C3-4795-AAF8-16FC795F4D73}" destId="{489D34AF-8896-450C-8611-28D470D8AB93}" srcOrd="1" destOrd="0" presId="urn:microsoft.com/office/officeart/2018/2/layout/IconVerticalSolidList"/>
    <dgm:cxn modelId="{1A0F0A50-0BDD-4F51-8201-5D59BCEF8DE4}" type="presParOf" srcId="{D4314E83-33C3-4795-AAF8-16FC795F4D73}" destId="{70E1B1DA-4348-4CAC-80C2-CCAB8D78E655}" srcOrd="2" destOrd="0" presId="urn:microsoft.com/office/officeart/2018/2/layout/IconVerticalSolidList"/>
    <dgm:cxn modelId="{BE88B242-21EC-4091-A66F-8F83C41F4A9D}" type="presParOf" srcId="{D4314E83-33C3-4795-AAF8-16FC795F4D73}" destId="{CAB6722C-2DFA-451E-889B-73B9F86CD9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B11687-6936-41D1-B57C-0F0DC9BE757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B1C23B-D729-4965-A3C3-E4570EA14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Geographic Slicers:</a:t>
          </a:r>
          <a:r>
            <a:rPr lang="en-US"/>
            <a:t> The dashboard must include slicers for </a:t>
          </a:r>
          <a:r>
            <a:rPr lang="en-US" b="1"/>
            <a:t>Region Name</a:t>
          </a:r>
          <a:r>
            <a:rPr lang="en-US"/>
            <a:t>, </a:t>
          </a:r>
          <a:r>
            <a:rPr lang="en-US" b="1"/>
            <a:t>State Name</a:t>
          </a:r>
          <a:r>
            <a:rPr lang="en-US"/>
            <a:t>, and </a:t>
          </a:r>
          <a:r>
            <a:rPr lang="en-US" b="1"/>
            <a:t>City</a:t>
          </a:r>
          <a:r>
            <a:rPr lang="en-US"/>
            <a:t> to allow analysis of loan performance and transaction trends based on geographical location.</a:t>
          </a:r>
        </a:p>
      </dgm:t>
    </dgm:pt>
    <dgm:pt modelId="{176FD919-6BDC-42AA-97CE-F761F6CBFAE6}" type="parTrans" cxnId="{DA41E5AD-58C1-418A-B904-8F09B5012D3A}">
      <dgm:prSet/>
      <dgm:spPr/>
      <dgm:t>
        <a:bodyPr/>
        <a:lstStyle/>
        <a:p>
          <a:endParaRPr lang="en-US"/>
        </a:p>
      </dgm:t>
    </dgm:pt>
    <dgm:pt modelId="{625AF4C0-FCA0-46DE-9014-4E79CCFE123F}" type="sibTrans" cxnId="{DA41E5AD-58C1-418A-B904-8F09B5012D3A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F38ABF5-8A09-467F-B29F-153BC3949E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Transaction Type and Method Slicers:</a:t>
          </a:r>
          <a:r>
            <a:rPr lang="en-US"/>
            <a:t> For the debit and credit dashboard, the primary slicers are </a:t>
          </a:r>
          <a:r>
            <a:rPr lang="en-US" b="1"/>
            <a:t>Transaction Type</a:t>
          </a:r>
          <a:r>
            <a:rPr lang="en-US"/>
            <a:t> ("Debit" vs. "Credit") and </a:t>
          </a:r>
          <a:r>
            <a:rPr lang="en-US" b="1"/>
            <a:t>Transaction Method</a:t>
          </a:r>
          <a:r>
            <a:rPr lang="en-US"/>
            <a:t> (e.g., "Bank Transfer," "Credit Card," "Debit Card") to isolate different types of financial movements.</a:t>
          </a:r>
        </a:p>
      </dgm:t>
    </dgm:pt>
    <dgm:pt modelId="{FDE95F1C-5454-430B-B59A-A1C88147839B}" type="parTrans" cxnId="{72A06206-70C4-46D5-927F-623BD08086A1}">
      <dgm:prSet/>
      <dgm:spPr/>
      <dgm:t>
        <a:bodyPr/>
        <a:lstStyle/>
        <a:p>
          <a:endParaRPr lang="en-US"/>
        </a:p>
      </dgm:t>
    </dgm:pt>
    <dgm:pt modelId="{868E54E8-18D2-466E-A96F-5012129B5796}" type="sibTrans" cxnId="{72A06206-70C4-46D5-927F-623BD08086A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25DB885A-FAF4-4546-8C63-3B5FDD911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Institution Parameters:</a:t>
          </a:r>
          <a:r>
            <a:rPr lang="en-US"/>
            <a:t> A slicer for </a:t>
          </a:r>
          <a:r>
            <a:rPr lang="en-US" b="1"/>
            <a:t>Bank Name</a:t>
          </a:r>
          <a:r>
            <a:rPr lang="en-US"/>
            <a:t> is used to compare the performance and client behavior across different financial institutions.</a:t>
          </a:r>
        </a:p>
      </dgm:t>
    </dgm:pt>
    <dgm:pt modelId="{346D0A25-34EC-4F4A-83AB-FD0080546BC3}" type="parTrans" cxnId="{588F82C9-E3BA-489E-8F14-2BFA759CFF6B}">
      <dgm:prSet/>
      <dgm:spPr/>
      <dgm:t>
        <a:bodyPr/>
        <a:lstStyle/>
        <a:p>
          <a:endParaRPr lang="en-US"/>
        </a:p>
      </dgm:t>
    </dgm:pt>
    <dgm:pt modelId="{3A37D720-5AE3-418C-B5D6-5E49778DF14E}" type="sibTrans" cxnId="{588F82C9-E3BA-489E-8F14-2BFA759CFF6B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A4B99678-325E-4884-B1F3-AEE0329379B3}" type="pres">
      <dgm:prSet presAssocID="{D3B11687-6936-41D1-B57C-0F0DC9BE757D}" presName="Name0" presStyleCnt="0">
        <dgm:presLayoutVars>
          <dgm:animLvl val="lvl"/>
          <dgm:resizeHandles val="exact"/>
        </dgm:presLayoutVars>
      </dgm:prSet>
      <dgm:spPr/>
    </dgm:pt>
    <dgm:pt modelId="{57434AD4-3C9E-42D0-A214-9AAFFD1248EF}" type="pres">
      <dgm:prSet presAssocID="{A5B1C23B-D729-4965-A3C3-E4570EA149C4}" presName="compositeNode" presStyleCnt="0">
        <dgm:presLayoutVars>
          <dgm:bulletEnabled val="1"/>
        </dgm:presLayoutVars>
      </dgm:prSet>
      <dgm:spPr/>
    </dgm:pt>
    <dgm:pt modelId="{E3F911A5-6CB3-46C1-B4F6-EA45035B9CE8}" type="pres">
      <dgm:prSet presAssocID="{A5B1C23B-D729-4965-A3C3-E4570EA149C4}" presName="bgRect" presStyleLbl="alignNode1" presStyleIdx="0" presStyleCnt="3"/>
      <dgm:spPr/>
    </dgm:pt>
    <dgm:pt modelId="{6142D23D-853B-474E-A832-39EFB78CD142}" type="pres">
      <dgm:prSet presAssocID="{625AF4C0-FCA0-46DE-9014-4E79CCFE123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30EDAFE3-FC67-4498-BEF4-E564A1CC15CE}" type="pres">
      <dgm:prSet presAssocID="{A5B1C23B-D729-4965-A3C3-E4570EA149C4}" presName="nodeRect" presStyleLbl="alignNode1" presStyleIdx="0" presStyleCnt="3">
        <dgm:presLayoutVars>
          <dgm:bulletEnabled val="1"/>
        </dgm:presLayoutVars>
      </dgm:prSet>
      <dgm:spPr/>
    </dgm:pt>
    <dgm:pt modelId="{FFC2AFFD-38DA-4FB9-A514-06644D6A9E0D}" type="pres">
      <dgm:prSet presAssocID="{625AF4C0-FCA0-46DE-9014-4E79CCFE123F}" presName="sibTrans" presStyleCnt="0"/>
      <dgm:spPr/>
    </dgm:pt>
    <dgm:pt modelId="{CAD1F694-2251-420E-A055-0F25B36E97D8}" type="pres">
      <dgm:prSet presAssocID="{DF38ABF5-8A09-467F-B29F-153BC3949E52}" presName="compositeNode" presStyleCnt="0">
        <dgm:presLayoutVars>
          <dgm:bulletEnabled val="1"/>
        </dgm:presLayoutVars>
      </dgm:prSet>
      <dgm:spPr/>
    </dgm:pt>
    <dgm:pt modelId="{7D296C2C-34AB-45F2-8508-93C1C22F3964}" type="pres">
      <dgm:prSet presAssocID="{DF38ABF5-8A09-467F-B29F-153BC3949E52}" presName="bgRect" presStyleLbl="alignNode1" presStyleIdx="1" presStyleCnt="3"/>
      <dgm:spPr/>
    </dgm:pt>
    <dgm:pt modelId="{0DE83C8F-1F7D-494D-8B65-434FEBE965AE}" type="pres">
      <dgm:prSet presAssocID="{868E54E8-18D2-466E-A96F-5012129B5796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EE602AA-0CA0-47F9-8942-FACD35206EAF}" type="pres">
      <dgm:prSet presAssocID="{DF38ABF5-8A09-467F-B29F-153BC3949E52}" presName="nodeRect" presStyleLbl="alignNode1" presStyleIdx="1" presStyleCnt="3">
        <dgm:presLayoutVars>
          <dgm:bulletEnabled val="1"/>
        </dgm:presLayoutVars>
      </dgm:prSet>
      <dgm:spPr/>
    </dgm:pt>
    <dgm:pt modelId="{1CD7E493-EDB5-4E76-BEC5-26E6BF08D8CA}" type="pres">
      <dgm:prSet presAssocID="{868E54E8-18D2-466E-A96F-5012129B5796}" presName="sibTrans" presStyleCnt="0"/>
      <dgm:spPr/>
    </dgm:pt>
    <dgm:pt modelId="{653212BB-AE93-4920-89B2-B4D4652776DF}" type="pres">
      <dgm:prSet presAssocID="{25DB885A-FAF4-4546-8C63-3B5FDD911A4F}" presName="compositeNode" presStyleCnt="0">
        <dgm:presLayoutVars>
          <dgm:bulletEnabled val="1"/>
        </dgm:presLayoutVars>
      </dgm:prSet>
      <dgm:spPr/>
    </dgm:pt>
    <dgm:pt modelId="{C904A59D-07A4-4E73-8D48-0DD1FE896598}" type="pres">
      <dgm:prSet presAssocID="{25DB885A-FAF4-4546-8C63-3B5FDD911A4F}" presName="bgRect" presStyleLbl="alignNode1" presStyleIdx="2" presStyleCnt="3"/>
      <dgm:spPr/>
    </dgm:pt>
    <dgm:pt modelId="{02DC188B-0511-4C53-B3CE-FA56233802D7}" type="pres">
      <dgm:prSet presAssocID="{3A37D720-5AE3-418C-B5D6-5E49778DF14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8944EB8-73B9-42BD-8615-D6CAFAEE335E}" type="pres">
      <dgm:prSet presAssocID="{25DB885A-FAF4-4546-8C63-3B5FDD911A4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2A06206-70C4-46D5-927F-623BD08086A1}" srcId="{D3B11687-6936-41D1-B57C-0F0DC9BE757D}" destId="{DF38ABF5-8A09-467F-B29F-153BC3949E52}" srcOrd="1" destOrd="0" parTransId="{FDE95F1C-5454-430B-B59A-A1C88147839B}" sibTransId="{868E54E8-18D2-466E-A96F-5012129B5796}"/>
    <dgm:cxn modelId="{DE3E752F-1D10-42C7-A8DC-BD42F3DE61AB}" type="presOf" srcId="{868E54E8-18D2-466E-A96F-5012129B5796}" destId="{0DE83C8F-1F7D-494D-8B65-434FEBE965AE}" srcOrd="0" destOrd="0" presId="urn:microsoft.com/office/officeart/2016/7/layout/LinearBlockProcessNumbered"/>
    <dgm:cxn modelId="{18CD9759-FCEB-4437-AFD5-010135154A64}" type="presOf" srcId="{A5B1C23B-D729-4965-A3C3-E4570EA149C4}" destId="{30EDAFE3-FC67-4498-BEF4-E564A1CC15CE}" srcOrd="1" destOrd="0" presId="urn:microsoft.com/office/officeart/2016/7/layout/LinearBlockProcessNumbered"/>
    <dgm:cxn modelId="{5726E88A-F09A-45BD-9E1E-D4219B834D34}" type="presOf" srcId="{DF38ABF5-8A09-467F-B29F-153BC3949E52}" destId="{7D296C2C-34AB-45F2-8508-93C1C22F3964}" srcOrd="0" destOrd="0" presId="urn:microsoft.com/office/officeart/2016/7/layout/LinearBlockProcessNumbered"/>
    <dgm:cxn modelId="{746E349D-F616-48E0-AA8D-DE9242DE1207}" type="presOf" srcId="{A5B1C23B-D729-4965-A3C3-E4570EA149C4}" destId="{E3F911A5-6CB3-46C1-B4F6-EA45035B9CE8}" srcOrd="0" destOrd="0" presId="urn:microsoft.com/office/officeart/2016/7/layout/LinearBlockProcessNumbered"/>
    <dgm:cxn modelId="{F97374A4-7228-4C74-B080-583DC2098C89}" type="presOf" srcId="{25DB885A-FAF4-4546-8C63-3B5FDD911A4F}" destId="{C904A59D-07A4-4E73-8D48-0DD1FE896598}" srcOrd="0" destOrd="0" presId="urn:microsoft.com/office/officeart/2016/7/layout/LinearBlockProcessNumbered"/>
    <dgm:cxn modelId="{FDCAD0AB-AFF0-45FC-AC86-82E0B6A7771C}" type="presOf" srcId="{625AF4C0-FCA0-46DE-9014-4E79CCFE123F}" destId="{6142D23D-853B-474E-A832-39EFB78CD142}" srcOrd="0" destOrd="0" presId="urn:microsoft.com/office/officeart/2016/7/layout/LinearBlockProcessNumbered"/>
    <dgm:cxn modelId="{DA41E5AD-58C1-418A-B904-8F09B5012D3A}" srcId="{D3B11687-6936-41D1-B57C-0F0DC9BE757D}" destId="{A5B1C23B-D729-4965-A3C3-E4570EA149C4}" srcOrd="0" destOrd="0" parTransId="{176FD919-6BDC-42AA-97CE-F761F6CBFAE6}" sibTransId="{625AF4C0-FCA0-46DE-9014-4E79CCFE123F}"/>
    <dgm:cxn modelId="{588F82C9-E3BA-489E-8F14-2BFA759CFF6B}" srcId="{D3B11687-6936-41D1-B57C-0F0DC9BE757D}" destId="{25DB885A-FAF4-4546-8C63-3B5FDD911A4F}" srcOrd="2" destOrd="0" parTransId="{346D0A25-34EC-4F4A-83AB-FD0080546BC3}" sibTransId="{3A37D720-5AE3-418C-B5D6-5E49778DF14E}"/>
    <dgm:cxn modelId="{43978FD3-22B5-444B-93A9-A9F961AFAA36}" type="presOf" srcId="{DF38ABF5-8A09-467F-B29F-153BC3949E52}" destId="{CEE602AA-0CA0-47F9-8942-FACD35206EAF}" srcOrd="1" destOrd="0" presId="urn:microsoft.com/office/officeart/2016/7/layout/LinearBlockProcessNumbered"/>
    <dgm:cxn modelId="{D12F43D5-18E9-4622-8626-26F705887BD2}" type="presOf" srcId="{25DB885A-FAF4-4546-8C63-3B5FDD911A4F}" destId="{D8944EB8-73B9-42BD-8615-D6CAFAEE335E}" srcOrd="1" destOrd="0" presId="urn:microsoft.com/office/officeart/2016/7/layout/LinearBlockProcessNumbered"/>
    <dgm:cxn modelId="{9112B8DD-DFFA-4D1D-B1FA-8E641226F973}" type="presOf" srcId="{3A37D720-5AE3-418C-B5D6-5E49778DF14E}" destId="{02DC188B-0511-4C53-B3CE-FA56233802D7}" srcOrd="0" destOrd="0" presId="urn:microsoft.com/office/officeart/2016/7/layout/LinearBlockProcessNumbered"/>
    <dgm:cxn modelId="{039835F9-5840-4DEF-859D-7D14B7DD0AFB}" type="presOf" srcId="{D3B11687-6936-41D1-B57C-0F0DC9BE757D}" destId="{A4B99678-325E-4884-B1F3-AEE0329379B3}" srcOrd="0" destOrd="0" presId="urn:microsoft.com/office/officeart/2016/7/layout/LinearBlockProcessNumbered"/>
    <dgm:cxn modelId="{97078CE3-C5E8-4131-AD50-791F6A6B69B0}" type="presParOf" srcId="{A4B99678-325E-4884-B1F3-AEE0329379B3}" destId="{57434AD4-3C9E-42D0-A214-9AAFFD1248EF}" srcOrd="0" destOrd="0" presId="urn:microsoft.com/office/officeart/2016/7/layout/LinearBlockProcessNumbered"/>
    <dgm:cxn modelId="{431351C6-3A0D-4C9C-9F09-8552A4FD4575}" type="presParOf" srcId="{57434AD4-3C9E-42D0-A214-9AAFFD1248EF}" destId="{E3F911A5-6CB3-46C1-B4F6-EA45035B9CE8}" srcOrd="0" destOrd="0" presId="urn:microsoft.com/office/officeart/2016/7/layout/LinearBlockProcessNumbered"/>
    <dgm:cxn modelId="{37B76EE7-54F7-460B-85C9-012FC9A69756}" type="presParOf" srcId="{57434AD4-3C9E-42D0-A214-9AAFFD1248EF}" destId="{6142D23D-853B-474E-A832-39EFB78CD142}" srcOrd="1" destOrd="0" presId="urn:microsoft.com/office/officeart/2016/7/layout/LinearBlockProcessNumbered"/>
    <dgm:cxn modelId="{D102C9B2-74EF-4172-A043-697EA9CFCA20}" type="presParOf" srcId="{57434AD4-3C9E-42D0-A214-9AAFFD1248EF}" destId="{30EDAFE3-FC67-4498-BEF4-E564A1CC15CE}" srcOrd="2" destOrd="0" presId="urn:microsoft.com/office/officeart/2016/7/layout/LinearBlockProcessNumbered"/>
    <dgm:cxn modelId="{3E71A4C0-A082-4ECF-AD80-1079065AA6EC}" type="presParOf" srcId="{A4B99678-325E-4884-B1F3-AEE0329379B3}" destId="{FFC2AFFD-38DA-4FB9-A514-06644D6A9E0D}" srcOrd="1" destOrd="0" presId="urn:microsoft.com/office/officeart/2016/7/layout/LinearBlockProcessNumbered"/>
    <dgm:cxn modelId="{91A64B8A-678F-41CD-812F-1407ADE4202B}" type="presParOf" srcId="{A4B99678-325E-4884-B1F3-AEE0329379B3}" destId="{CAD1F694-2251-420E-A055-0F25B36E97D8}" srcOrd="2" destOrd="0" presId="urn:microsoft.com/office/officeart/2016/7/layout/LinearBlockProcessNumbered"/>
    <dgm:cxn modelId="{2846DC83-2846-4889-8019-A59BC6EFE8EA}" type="presParOf" srcId="{CAD1F694-2251-420E-A055-0F25B36E97D8}" destId="{7D296C2C-34AB-45F2-8508-93C1C22F3964}" srcOrd="0" destOrd="0" presId="urn:microsoft.com/office/officeart/2016/7/layout/LinearBlockProcessNumbered"/>
    <dgm:cxn modelId="{991999FA-DF31-4752-8DDB-EE1A6063C5B2}" type="presParOf" srcId="{CAD1F694-2251-420E-A055-0F25B36E97D8}" destId="{0DE83C8F-1F7D-494D-8B65-434FEBE965AE}" srcOrd="1" destOrd="0" presId="urn:microsoft.com/office/officeart/2016/7/layout/LinearBlockProcessNumbered"/>
    <dgm:cxn modelId="{C64A847B-F7D4-431D-BA95-B65B33E1BAE0}" type="presParOf" srcId="{CAD1F694-2251-420E-A055-0F25B36E97D8}" destId="{CEE602AA-0CA0-47F9-8942-FACD35206EAF}" srcOrd="2" destOrd="0" presId="urn:microsoft.com/office/officeart/2016/7/layout/LinearBlockProcessNumbered"/>
    <dgm:cxn modelId="{F7D7A492-5F0D-47DF-A781-994924BFF5CC}" type="presParOf" srcId="{A4B99678-325E-4884-B1F3-AEE0329379B3}" destId="{1CD7E493-EDB5-4E76-BEC5-26E6BF08D8CA}" srcOrd="3" destOrd="0" presId="urn:microsoft.com/office/officeart/2016/7/layout/LinearBlockProcessNumbered"/>
    <dgm:cxn modelId="{5E769503-8DFD-418B-B950-795F7D96BBF3}" type="presParOf" srcId="{A4B99678-325E-4884-B1F3-AEE0329379B3}" destId="{653212BB-AE93-4920-89B2-B4D4652776DF}" srcOrd="4" destOrd="0" presId="urn:microsoft.com/office/officeart/2016/7/layout/LinearBlockProcessNumbered"/>
    <dgm:cxn modelId="{D25586F9-4B00-48C0-B512-FE4E91439FAD}" type="presParOf" srcId="{653212BB-AE93-4920-89B2-B4D4652776DF}" destId="{C904A59D-07A4-4E73-8D48-0DD1FE896598}" srcOrd="0" destOrd="0" presId="urn:microsoft.com/office/officeart/2016/7/layout/LinearBlockProcessNumbered"/>
    <dgm:cxn modelId="{D9C8A8C2-9AC4-4025-A6D4-63236F3D66FB}" type="presParOf" srcId="{653212BB-AE93-4920-89B2-B4D4652776DF}" destId="{02DC188B-0511-4C53-B3CE-FA56233802D7}" srcOrd="1" destOrd="0" presId="urn:microsoft.com/office/officeart/2016/7/layout/LinearBlockProcessNumbered"/>
    <dgm:cxn modelId="{57A221D0-4114-417F-954D-E11E291BC9D7}" type="presParOf" srcId="{653212BB-AE93-4920-89B2-B4D4652776DF}" destId="{D8944EB8-73B9-42BD-8615-D6CAFAEE335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02CC2B-85F9-476E-A936-C2E9C48AA15B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37B93A-AF21-4A40-B4BD-2B15AB58CA99}">
      <dgm:prSet custT="1"/>
      <dgm:spPr/>
      <dgm:t>
        <a:bodyPr/>
        <a:lstStyle/>
        <a:p>
          <a:r>
            <a:rPr lang="en-US" sz="2000" dirty="0"/>
            <a:t>Calculated Field</a:t>
          </a:r>
        </a:p>
      </dgm:t>
    </dgm:pt>
    <dgm:pt modelId="{86D8CF4D-0774-440D-92A7-7192BDB04EE7}" type="parTrans" cxnId="{0BABC7BB-C503-4EF1-A13F-99E2B945CEFF}">
      <dgm:prSet/>
      <dgm:spPr/>
      <dgm:t>
        <a:bodyPr/>
        <a:lstStyle/>
        <a:p>
          <a:endParaRPr lang="en-US"/>
        </a:p>
      </dgm:t>
    </dgm:pt>
    <dgm:pt modelId="{0E0F4F88-6111-423D-B26C-11503BCF2781}" type="sibTrans" cxnId="{0BABC7BB-C503-4EF1-A13F-99E2B945CEFF}">
      <dgm:prSet/>
      <dgm:spPr/>
      <dgm:t>
        <a:bodyPr/>
        <a:lstStyle/>
        <a:p>
          <a:endParaRPr lang="en-US"/>
        </a:p>
      </dgm:t>
    </dgm:pt>
    <dgm:pt modelId="{5A76C43D-6D38-4EA9-BD43-80D144E7CE68}">
      <dgm:prSet custT="1"/>
      <dgm:spPr/>
      <dgm:t>
        <a:bodyPr/>
        <a:lstStyle/>
        <a:p>
          <a:r>
            <a:rPr lang="en-US" sz="2000" dirty="0"/>
            <a:t>Risk Category = </a:t>
          </a:r>
        </a:p>
      </dgm:t>
    </dgm:pt>
    <dgm:pt modelId="{B223BFD9-EAD7-40C2-92FD-271C457EEEC0}" type="parTrans" cxnId="{3FC27CDB-468B-4F18-A042-EFA35BA4BE53}">
      <dgm:prSet/>
      <dgm:spPr/>
      <dgm:t>
        <a:bodyPr/>
        <a:lstStyle/>
        <a:p>
          <a:endParaRPr lang="en-US"/>
        </a:p>
      </dgm:t>
    </dgm:pt>
    <dgm:pt modelId="{A0E3ED8D-B01D-4D61-8219-68D120C51B7C}" type="sibTrans" cxnId="{3FC27CDB-468B-4F18-A042-EFA35BA4BE53}">
      <dgm:prSet/>
      <dgm:spPr/>
      <dgm:t>
        <a:bodyPr/>
        <a:lstStyle/>
        <a:p>
          <a:endParaRPr lang="en-US"/>
        </a:p>
      </dgm:t>
    </dgm:pt>
    <dgm:pt modelId="{61D98920-0DA6-400B-BB39-83010EDA809E}">
      <dgm:prSet custT="1"/>
      <dgm:spPr/>
      <dgm:t>
        <a:bodyPr/>
        <a:lstStyle/>
        <a:p>
          <a:r>
            <a:rPr lang="en-US" sz="1050" dirty="0"/>
            <a:t>THEN "Low Risk" </a:t>
          </a:r>
        </a:p>
      </dgm:t>
    </dgm:pt>
    <dgm:pt modelId="{1ABA7CD3-A42A-45BE-A9A8-DD6024F6D4BE}" type="parTrans" cxnId="{447BEC42-657D-4F2F-AF94-EF04A493615C}">
      <dgm:prSet/>
      <dgm:spPr/>
      <dgm:t>
        <a:bodyPr/>
        <a:lstStyle/>
        <a:p>
          <a:endParaRPr lang="en-US"/>
        </a:p>
      </dgm:t>
    </dgm:pt>
    <dgm:pt modelId="{2FFC1AC6-74A7-48E2-8156-D7CE386D37B3}" type="sibTrans" cxnId="{447BEC42-657D-4F2F-AF94-EF04A493615C}">
      <dgm:prSet/>
      <dgm:spPr/>
      <dgm:t>
        <a:bodyPr/>
        <a:lstStyle/>
        <a:p>
          <a:endParaRPr lang="en-US"/>
        </a:p>
      </dgm:t>
    </dgm:pt>
    <dgm:pt modelId="{4D5E566E-D7FC-4D10-A4A8-FBD5CB89D92A}">
      <dgm:prSet custT="1"/>
      <dgm:spPr/>
      <dgm:t>
        <a:bodyPr/>
        <a:lstStyle/>
        <a:p>
          <a:r>
            <a:rPr lang="en-US" sz="1050" dirty="0"/>
            <a:t>ELSE 	"High Risk" </a:t>
          </a:r>
        </a:p>
      </dgm:t>
    </dgm:pt>
    <dgm:pt modelId="{F19EC2EE-542C-4ECE-B978-63FB3AFEE99E}" type="parTrans" cxnId="{579B8D90-3ED3-4A3C-8E20-3BC6194CDA67}">
      <dgm:prSet/>
      <dgm:spPr/>
      <dgm:t>
        <a:bodyPr/>
        <a:lstStyle/>
        <a:p>
          <a:endParaRPr lang="en-US"/>
        </a:p>
      </dgm:t>
    </dgm:pt>
    <dgm:pt modelId="{36774FBE-1041-4CD2-8D70-FFE25F6E1CDF}" type="sibTrans" cxnId="{579B8D90-3ED3-4A3C-8E20-3BC6194CDA67}">
      <dgm:prSet/>
      <dgm:spPr/>
      <dgm:t>
        <a:bodyPr/>
        <a:lstStyle/>
        <a:p>
          <a:endParaRPr lang="en-US"/>
        </a:p>
      </dgm:t>
    </dgm:pt>
    <dgm:pt modelId="{7D1C56DB-7A33-4E9D-B3DF-ABEB5E892D62}">
      <dgm:prSet custT="1"/>
      <dgm:spPr/>
      <dgm:t>
        <a:bodyPr/>
        <a:lstStyle/>
        <a:p>
          <a:r>
            <a:rPr lang="en-US" sz="1050" dirty="0"/>
            <a:t>END</a:t>
          </a:r>
        </a:p>
      </dgm:t>
    </dgm:pt>
    <dgm:pt modelId="{B3DFE8F0-64C7-476F-9F0E-C63B3F9F56B7}" type="parTrans" cxnId="{FBCD1227-DA8A-4C72-9F7A-17400AC3767E}">
      <dgm:prSet/>
      <dgm:spPr/>
      <dgm:t>
        <a:bodyPr/>
        <a:lstStyle/>
        <a:p>
          <a:endParaRPr lang="en-US"/>
        </a:p>
      </dgm:t>
    </dgm:pt>
    <dgm:pt modelId="{EC239B9D-44BB-404B-8E60-7523E11DF304}" type="sibTrans" cxnId="{FBCD1227-DA8A-4C72-9F7A-17400AC3767E}">
      <dgm:prSet/>
      <dgm:spPr/>
      <dgm:t>
        <a:bodyPr/>
        <a:lstStyle/>
        <a:p>
          <a:endParaRPr lang="en-US"/>
        </a:p>
      </dgm:t>
    </dgm:pt>
    <dgm:pt modelId="{29B49412-F9A3-4939-9D41-24EB00091961}">
      <dgm:prSet custT="1"/>
      <dgm:spPr/>
      <dgm:t>
        <a:bodyPr/>
        <a:lstStyle/>
        <a:p>
          <a:r>
            <a:rPr lang="en-US" sz="1050" dirty="0"/>
            <a:t>[Grade] IN ("A", "B", "C") </a:t>
          </a:r>
        </a:p>
      </dgm:t>
    </dgm:pt>
    <dgm:pt modelId="{C9E3BC44-67CC-411B-8CCD-DB31C8BEFA9F}" type="parTrans" cxnId="{3DCA2973-0660-4DBB-9067-D2E6BB6C58C9}">
      <dgm:prSet/>
      <dgm:spPr/>
      <dgm:t>
        <a:bodyPr/>
        <a:lstStyle/>
        <a:p>
          <a:endParaRPr lang="en-US"/>
        </a:p>
      </dgm:t>
    </dgm:pt>
    <dgm:pt modelId="{FBA802FD-E171-4ABF-9AD8-7ED6A2152738}" type="sibTrans" cxnId="{3DCA2973-0660-4DBB-9067-D2E6BB6C58C9}">
      <dgm:prSet/>
      <dgm:spPr/>
      <dgm:t>
        <a:bodyPr/>
        <a:lstStyle/>
        <a:p>
          <a:endParaRPr lang="en-US"/>
        </a:p>
      </dgm:t>
    </dgm:pt>
    <dgm:pt modelId="{BAB60F94-B5B6-4045-9D51-1D82A64927E6}">
      <dgm:prSet custT="1"/>
      <dgm:spPr/>
      <dgm:t>
        <a:bodyPr/>
        <a:lstStyle/>
        <a:p>
          <a:r>
            <a:rPr lang="en-US" sz="1050" dirty="0"/>
            <a:t>WHEN</a:t>
          </a:r>
        </a:p>
      </dgm:t>
    </dgm:pt>
    <dgm:pt modelId="{E9927353-2213-4BD2-9C7F-CD95454BD4F4}" type="sibTrans" cxnId="{406D909D-CFB9-41FB-A160-3DA5B290CE2A}">
      <dgm:prSet/>
      <dgm:spPr/>
      <dgm:t>
        <a:bodyPr/>
        <a:lstStyle/>
        <a:p>
          <a:endParaRPr lang="en-US"/>
        </a:p>
      </dgm:t>
    </dgm:pt>
    <dgm:pt modelId="{B96D94A6-565C-42F4-9478-9298A362B950}" type="parTrans" cxnId="{406D909D-CFB9-41FB-A160-3DA5B290CE2A}">
      <dgm:prSet/>
      <dgm:spPr/>
      <dgm:t>
        <a:bodyPr/>
        <a:lstStyle/>
        <a:p>
          <a:endParaRPr lang="en-US"/>
        </a:p>
      </dgm:t>
    </dgm:pt>
    <dgm:pt modelId="{FA5E4A76-D783-4A51-875D-A996B9ED4683}">
      <dgm:prSet custT="1"/>
      <dgm:spPr/>
      <dgm:t>
        <a:bodyPr/>
        <a:lstStyle/>
        <a:p>
          <a:endParaRPr lang="en-US" sz="1050" dirty="0"/>
        </a:p>
      </dgm:t>
    </dgm:pt>
    <dgm:pt modelId="{46ADD64B-88B7-4451-AEB2-0D5E9BCE7C4F}" type="sibTrans" cxnId="{18D05C30-A0CF-427E-8A3F-FDFF4D22211F}">
      <dgm:prSet/>
      <dgm:spPr/>
      <dgm:t>
        <a:bodyPr/>
        <a:lstStyle/>
        <a:p>
          <a:endParaRPr lang="en-US"/>
        </a:p>
      </dgm:t>
    </dgm:pt>
    <dgm:pt modelId="{D3BA9761-7D5D-4E1A-8E3C-0DDC8DDBFC98}" type="parTrans" cxnId="{18D05C30-A0CF-427E-8A3F-FDFF4D22211F}">
      <dgm:prSet/>
      <dgm:spPr/>
      <dgm:t>
        <a:bodyPr/>
        <a:lstStyle/>
        <a:p>
          <a:endParaRPr lang="en-US"/>
        </a:p>
      </dgm:t>
    </dgm:pt>
    <dgm:pt modelId="{4E3127D5-F57A-4B59-8D9E-B0DBBA7D6650}">
      <dgm:prSet custT="1"/>
      <dgm:spPr/>
      <dgm:t>
        <a:bodyPr/>
        <a:lstStyle/>
        <a:p>
          <a:r>
            <a:rPr lang="en-US" sz="1050" dirty="0"/>
            <a:t>CASE</a:t>
          </a:r>
        </a:p>
      </dgm:t>
    </dgm:pt>
    <dgm:pt modelId="{7C252628-2D05-41E4-9908-F10C48926BF7}" type="sibTrans" cxnId="{B733679D-59DB-482C-88D7-6018071B4235}">
      <dgm:prSet/>
      <dgm:spPr/>
      <dgm:t>
        <a:bodyPr/>
        <a:lstStyle/>
        <a:p>
          <a:endParaRPr lang="en-US"/>
        </a:p>
      </dgm:t>
    </dgm:pt>
    <dgm:pt modelId="{28124DF9-0AC6-4639-819D-70FA6F2AD16E}" type="parTrans" cxnId="{B733679D-59DB-482C-88D7-6018071B4235}">
      <dgm:prSet/>
      <dgm:spPr/>
      <dgm:t>
        <a:bodyPr/>
        <a:lstStyle/>
        <a:p>
          <a:endParaRPr lang="en-US"/>
        </a:p>
      </dgm:t>
    </dgm:pt>
    <dgm:pt modelId="{3BA8E9AC-D6EA-433E-976A-2F07608E6B2E}" type="pres">
      <dgm:prSet presAssocID="{8602CC2B-85F9-476E-A936-C2E9C48AA15B}" presName="diagram" presStyleCnt="0">
        <dgm:presLayoutVars>
          <dgm:dir/>
          <dgm:resizeHandles val="exact"/>
        </dgm:presLayoutVars>
      </dgm:prSet>
      <dgm:spPr/>
    </dgm:pt>
    <dgm:pt modelId="{907D07C8-AF0F-4516-BD96-6ECFF5C999D3}" type="pres">
      <dgm:prSet presAssocID="{B537B93A-AF21-4A40-B4BD-2B15AB58CA99}" presName="node" presStyleLbl="node1" presStyleIdx="0" presStyleCnt="3">
        <dgm:presLayoutVars>
          <dgm:bulletEnabled val="1"/>
        </dgm:presLayoutVars>
      </dgm:prSet>
      <dgm:spPr/>
    </dgm:pt>
    <dgm:pt modelId="{11809D03-4FDE-457D-A60A-332861CDD452}" type="pres">
      <dgm:prSet presAssocID="{0E0F4F88-6111-423D-B26C-11503BCF2781}" presName="sibTrans" presStyleLbl="sibTrans2D1" presStyleIdx="0" presStyleCnt="2"/>
      <dgm:spPr/>
    </dgm:pt>
    <dgm:pt modelId="{DA0C0189-C5C6-49FA-93F5-BB7B02826C75}" type="pres">
      <dgm:prSet presAssocID="{0E0F4F88-6111-423D-B26C-11503BCF2781}" presName="connectorText" presStyleLbl="sibTrans2D1" presStyleIdx="0" presStyleCnt="2"/>
      <dgm:spPr/>
    </dgm:pt>
    <dgm:pt modelId="{0D3DE025-4477-4D59-ACAD-71558A8CFB62}" type="pres">
      <dgm:prSet presAssocID="{5A76C43D-6D38-4EA9-BD43-80D144E7CE68}" presName="node" presStyleLbl="node1" presStyleIdx="1" presStyleCnt="3">
        <dgm:presLayoutVars>
          <dgm:bulletEnabled val="1"/>
        </dgm:presLayoutVars>
      </dgm:prSet>
      <dgm:spPr/>
    </dgm:pt>
    <dgm:pt modelId="{B517FE88-8DEE-439C-B815-F1DEEE7ED1C1}" type="pres">
      <dgm:prSet presAssocID="{A0E3ED8D-B01D-4D61-8219-68D120C51B7C}" presName="sibTrans" presStyleLbl="sibTrans2D1" presStyleIdx="1" presStyleCnt="2"/>
      <dgm:spPr/>
    </dgm:pt>
    <dgm:pt modelId="{DCD1EE7F-BD1D-476B-840D-60397F6C2052}" type="pres">
      <dgm:prSet presAssocID="{A0E3ED8D-B01D-4D61-8219-68D120C51B7C}" presName="connectorText" presStyleLbl="sibTrans2D1" presStyleIdx="1" presStyleCnt="2"/>
      <dgm:spPr/>
    </dgm:pt>
    <dgm:pt modelId="{CA15CE27-1664-4999-8D4B-D224DB700786}" type="pres">
      <dgm:prSet presAssocID="{4E3127D5-F57A-4B59-8D9E-B0DBBA7D6650}" presName="node" presStyleLbl="node1" presStyleIdx="2" presStyleCnt="3" custScaleX="141723" custScaleY="131297" custLinFactNeighborX="-40758" custLinFactNeighborY="-27373">
        <dgm:presLayoutVars>
          <dgm:bulletEnabled val="1"/>
        </dgm:presLayoutVars>
      </dgm:prSet>
      <dgm:spPr/>
    </dgm:pt>
  </dgm:ptLst>
  <dgm:cxnLst>
    <dgm:cxn modelId="{46D23018-3BA1-481F-8AC6-450C6AB3295F}" type="presOf" srcId="{A0E3ED8D-B01D-4D61-8219-68D120C51B7C}" destId="{DCD1EE7F-BD1D-476B-840D-60397F6C2052}" srcOrd="1" destOrd="0" presId="urn:microsoft.com/office/officeart/2005/8/layout/process5"/>
    <dgm:cxn modelId="{FBCD1227-DA8A-4C72-9F7A-17400AC3767E}" srcId="{4E3127D5-F57A-4B59-8D9E-B0DBBA7D6650}" destId="{7D1C56DB-7A33-4E9D-B3DF-ABEB5E892D62}" srcOrd="5" destOrd="0" parTransId="{B3DFE8F0-64C7-476F-9F0E-C63B3F9F56B7}" sibTransId="{EC239B9D-44BB-404B-8E60-7523E11DF304}"/>
    <dgm:cxn modelId="{BD1F162B-DFD3-4143-9080-25A9C8253475}" type="presOf" srcId="{0E0F4F88-6111-423D-B26C-11503BCF2781}" destId="{11809D03-4FDE-457D-A60A-332861CDD452}" srcOrd="0" destOrd="0" presId="urn:microsoft.com/office/officeart/2005/8/layout/process5"/>
    <dgm:cxn modelId="{18D05C30-A0CF-427E-8A3F-FDFF4D22211F}" srcId="{4E3127D5-F57A-4B59-8D9E-B0DBBA7D6650}" destId="{FA5E4A76-D783-4A51-875D-A996B9ED4683}" srcOrd="0" destOrd="0" parTransId="{D3BA9761-7D5D-4E1A-8E3C-0DDC8DDBFC98}" sibTransId="{46ADD64B-88B7-4451-AEB2-0D5E9BCE7C4F}"/>
    <dgm:cxn modelId="{447BEC42-657D-4F2F-AF94-EF04A493615C}" srcId="{4E3127D5-F57A-4B59-8D9E-B0DBBA7D6650}" destId="{61D98920-0DA6-400B-BB39-83010EDA809E}" srcOrd="3" destOrd="0" parTransId="{1ABA7CD3-A42A-45BE-A9A8-DD6024F6D4BE}" sibTransId="{2FFC1AC6-74A7-48E2-8156-D7CE386D37B3}"/>
    <dgm:cxn modelId="{FF57FD4C-2912-4FA2-A50B-6736B1161518}" type="presOf" srcId="{7D1C56DB-7A33-4E9D-B3DF-ABEB5E892D62}" destId="{CA15CE27-1664-4999-8D4B-D224DB700786}" srcOrd="0" destOrd="6" presId="urn:microsoft.com/office/officeart/2005/8/layout/process5"/>
    <dgm:cxn modelId="{3DCA2973-0660-4DBB-9067-D2E6BB6C58C9}" srcId="{4E3127D5-F57A-4B59-8D9E-B0DBBA7D6650}" destId="{29B49412-F9A3-4939-9D41-24EB00091961}" srcOrd="2" destOrd="0" parTransId="{C9E3BC44-67CC-411B-8CCD-DB31C8BEFA9F}" sibTransId="{FBA802FD-E171-4ABF-9AD8-7ED6A2152738}"/>
    <dgm:cxn modelId="{37E6915A-F063-4442-B70C-5D3447DEF105}" type="presOf" srcId="{4E3127D5-F57A-4B59-8D9E-B0DBBA7D6650}" destId="{CA15CE27-1664-4999-8D4B-D224DB700786}" srcOrd="0" destOrd="0" presId="urn:microsoft.com/office/officeart/2005/8/layout/process5"/>
    <dgm:cxn modelId="{0286067B-53BC-4A27-A5B1-2E08A3E605E2}" type="presOf" srcId="{B537B93A-AF21-4A40-B4BD-2B15AB58CA99}" destId="{907D07C8-AF0F-4516-BD96-6ECFF5C999D3}" srcOrd="0" destOrd="0" presId="urn:microsoft.com/office/officeart/2005/8/layout/process5"/>
    <dgm:cxn modelId="{58CE8E7C-FEE3-455B-902F-5F0AADA4B86D}" type="presOf" srcId="{29B49412-F9A3-4939-9D41-24EB00091961}" destId="{CA15CE27-1664-4999-8D4B-D224DB700786}" srcOrd="0" destOrd="3" presId="urn:microsoft.com/office/officeart/2005/8/layout/process5"/>
    <dgm:cxn modelId="{ABA2008C-8945-43D0-B292-29C488F1585E}" type="presOf" srcId="{5A76C43D-6D38-4EA9-BD43-80D144E7CE68}" destId="{0D3DE025-4477-4D59-ACAD-71558A8CFB62}" srcOrd="0" destOrd="0" presId="urn:microsoft.com/office/officeart/2005/8/layout/process5"/>
    <dgm:cxn modelId="{579B8D90-3ED3-4A3C-8E20-3BC6194CDA67}" srcId="{4E3127D5-F57A-4B59-8D9E-B0DBBA7D6650}" destId="{4D5E566E-D7FC-4D10-A4A8-FBD5CB89D92A}" srcOrd="4" destOrd="0" parTransId="{F19EC2EE-542C-4ECE-B978-63FB3AFEE99E}" sibTransId="{36774FBE-1041-4CD2-8D70-FFE25F6E1CDF}"/>
    <dgm:cxn modelId="{B733679D-59DB-482C-88D7-6018071B4235}" srcId="{8602CC2B-85F9-476E-A936-C2E9C48AA15B}" destId="{4E3127D5-F57A-4B59-8D9E-B0DBBA7D6650}" srcOrd="2" destOrd="0" parTransId="{28124DF9-0AC6-4639-819D-70FA6F2AD16E}" sibTransId="{7C252628-2D05-41E4-9908-F10C48926BF7}"/>
    <dgm:cxn modelId="{406D909D-CFB9-41FB-A160-3DA5B290CE2A}" srcId="{4E3127D5-F57A-4B59-8D9E-B0DBBA7D6650}" destId="{BAB60F94-B5B6-4045-9D51-1D82A64927E6}" srcOrd="1" destOrd="0" parTransId="{B96D94A6-565C-42F4-9478-9298A362B950}" sibTransId="{E9927353-2213-4BD2-9C7F-CD95454BD4F4}"/>
    <dgm:cxn modelId="{3E8377AB-E615-4DFF-9707-2AE5BE8AB52B}" type="presOf" srcId="{BAB60F94-B5B6-4045-9D51-1D82A64927E6}" destId="{CA15CE27-1664-4999-8D4B-D224DB700786}" srcOrd="0" destOrd="2" presId="urn:microsoft.com/office/officeart/2005/8/layout/process5"/>
    <dgm:cxn modelId="{12CCCCB5-48AF-4A91-B88A-D7AD87515180}" type="presOf" srcId="{FA5E4A76-D783-4A51-875D-A996B9ED4683}" destId="{CA15CE27-1664-4999-8D4B-D224DB700786}" srcOrd="0" destOrd="1" presId="urn:microsoft.com/office/officeart/2005/8/layout/process5"/>
    <dgm:cxn modelId="{0BABC7BB-C503-4EF1-A13F-99E2B945CEFF}" srcId="{8602CC2B-85F9-476E-A936-C2E9C48AA15B}" destId="{B537B93A-AF21-4A40-B4BD-2B15AB58CA99}" srcOrd="0" destOrd="0" parTransId="{86D8CF4D-0774-440D-92A7-7192BDB04EE7}" sibTransId="{0E0F4F88-6111-423D-B26C-11503BCF2781}"/>
    <dgm:cxn modelId="{ABEFF7C0-2630-4711-BC09-790F7601C26B}" type="presOf" srcId="{0E0F4F88-6111-423D-B26C-11503BCF2781}" destId="{DA0C0189-C5C6-49FA-93F5-BB7B02826C75}" srcOrd="1" destOrd="0" presId="urn:microsoft.com/office/officeart/2005/8/layout/process5"/>
    <dgm:cxn modelId="{3E87CBCC-BEE9-4798-9092-9FD58493041C}" type="presOf" srcId="{8602CC2B-85F9-476E-A936-C2E9C48AA15B}" destId="{3BA8E9AC-D6EA-433E-976A-2F07608E6B2E}" srcOrd="0" destOrd="0" presId="urn:microsoft.com/office/officeart/2005/8/layout/process5"/>
    <dgm:cxn modelId="{AF4C88D0-135A-4BC2-B4D8-C19F89D36210}" type="presOf" srcId="{A0E3ED8D-B01D-4D61-8219-68D120C51B7C}" destId="{B517FE88-8DEE-439C-B815-F1DEEE7ED1C1}" srcOrd="0" destOrd="0" presId="urn:microsoft.com/office/officeart/2005/8/layout/process5"/>
    <dgm:cxn modelId="{EEA8EFDA-331A-4820-A098-8F611E7994C8}" type="presOf" srcId="{4D5E566E-D7FC-4D10-A4A8-FBD5CB89D92A}" destId="{CA15CE27-1664-4999-8D4B-D224DB700786}" srcOrd="0" destOrd="5" presId="urn:microsoft.com/office/officeart/2005/8/layout/process5"/>
    <dgm:cxn modelId="{3FC27CDB-468B-4F18-A042-EFA35BA4BE53}" srcId="{8602CC2B-85F9-476E-A936-C2E9C48AA15B}" destId="{5A76C43D-6D38-4EA9-BD43-80D144E7CE68}" srcOrd="1" destOrd="0" parTransId="{B223BFD9-EAD7-40C2-92FD-271C457EEEC0}" sibTransId="{A0E3ED8D-B01D-4D61-8219-68D120C51B7C}"/>
    <dgm:cxn modelId="{6F4FE4E1-1CA5-4D33-9440-E2BB8EC2850D}" type="presOf" srcId="{61D98920-0DA6-400B-BB39-83010EDA809E}" destId="{CA15CE27-1664-4999-8D4B-D224DB700786}" srcOrd="0" destOrd="4" presId="urn:microsoft.com/office/officeart/2005/8/layout/process5"/>
    <dgm:cxn modelId="{B5F994C7-DC56-4124-B6EE-FF2C3C10E20D}" type="presParOf" srcId="{3BA8E9AC-D6EA-433E-976A-2F07608E6B2E}" destId="{907D07C8-AF0F-4516-BD96-6ECFF5C999D3}" srcOrd="0" destOrd="0" presId="urn:microsoft.com/office/officeart/2005/8/layout/process5"/>
    <dgm:cxn modelId="{5491E701-D78A-4C01-8C78-9A22DE8C3FCE}" type="presParOf" srcId="{3BA8E9AC-D6EA-433E-976A-2F07608E6B2E}" destId="{11809D03-4FDE-457D-A60A-332861CDD452}" srcOrd="1" destOrd="0" presId="urn:microsoft.com/office/officeart/2005/8/layout/process5"/>
    <dgm:cxn modelId="{0C2B25D8-191E-4EB6-873A-9A0EA35EBD8D}" type="presParOf" srcId="{11809D03-4FDE-457D-A60A-332861CDD452}" destId="{DA0C0189-C5C6-49FA-93F5-BB7B02826C75}" srcOrd="0" destOrd="0" presId="urn:microsoft.com/office/officeart/2005/8/layout/process5"/>
    <dgm:cxn modelId="{18C0D733-8D29-4DD4-B0DE-74FCE10AE11E}" type="presParOf" srcId="{3BA8E9AC-D6EA-433E-976A-2F07608E6B2E}" destId="{0D3DE025-4477-4D59-ACAD-71558A8CFB62}" srcOrd="2" destOrd="0" presId="urn:microsoft.com/office/officeart/2005/8/layout/process5"/>
    <dgm:cxn modelId="{6C920271-11FE-44FE-B43B-E2DC6EC680F1}" type="presParOf" srcId="{3BA8E9AC-D6EA-433E-976A-2F07608E6B2E}" destId="{B517FE88-8DEE-439C-B815-F1DEEE7ED1C1}" srcOrd="3" destOrd="0" presId="urn:microsoft.com/office/officeart/2005/8/layout/process5"/>
    <dgm:cxn modelId="{C0E63597-D404-4EEB-9BE8-2A604A4EF3AD}" type="presParOf" srcId="{B517FE88-8DEE-439C-B815-F1DEEE7ED1C1}" destId="{DCD1EE7F-BD1D-476B-840D-60397F6C2052}" srcOrd="0" destOrd="0" presId="urn:microsoft.com/office/officeart/2005/8/layout/process5"/>
    <dgm:cxn modelId="{835346B4-2B6D-4A51-9B91-982D4344036E}" type="presParOf" srcId="{3BA8E9AC-D6EA-433E-976A-2F07608E6B2E}" destId="{CA15CE27-1664-4999-8D4B-D224DB700786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720F24-D270-43B7-95A0-B0A20E7CB0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0BE9AF-CC38-490C-8D62-2938481389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customer who has the </a:t>
          </a:r>
          <a:r>
            <a:rPr lang="en-US" b="1" i="0" baseline="0" dirty="0"/>
            <a:t>most negative net transaction</a:t>
          </a:r>
          <a:endParaRPr lang="en-US" dirty="0"/>
        </a:p>
      </dgm:t>
    </dgm:pt>
    <dgm:pt modelId="{421F582B-3535-411F-9CC2-C5C35D9DA2DE}" type="parTrans" cxnId="{7E138FC3-BDD7-4576-822F-4C024798B57F}">
      <dgm:prSet/>
      <dgm:spPr/>
      <dgm:t>
        <a:bodyPr/>
        <a:lstStyle/>
        <a:p>
          <a:endParaRPr lang="en-US"/>
        </a:p>
      </dgm:t>
    </dgm:pt>
    <dgm:pt modelId="{644B04FF-F002-4FD4-BC5F-C789474BA618}" type="sibTrans" cxnId="{7E138FC3-BDD7-4576-822F-4C024798B57F}">
      <dgm:prSet/>
      <dgm:spPr/>
      <dgm:t>
        <a:bodyPr/>
        <a:lstStyle/>
        <a:p>
          <a:endParaRPr lang="en-US"/>
        </a:p>
      </dgm:t>
    </dgm:pt>
    <dgm:pt modelId="{86C5DEA1-EDD3-4D70-B3BB-8BDDBFB391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is </a:t>
          </a:r>
          <a:r>
            <a:rPr lang="en-US" b="1" i="0" baseline="0"/>
            <a:t>Michael Martinez</a:t>
          </a:r>
          <a:r>
            <a:rPr lang="en-US" b="0" i="0" baseline="0"/>
            <a:t>.</a:t>
          </a:r>
          <a:endParaRPr lang="en-US"/>
        </a:p>
      </dgm:t>
    </dgm:pt>
    <dgm:pt modelId="{5CC27065-033A-4ECB-8091-79B62341944A}" type="parTrans" cxnId="{4C655D53-E103-424F-AD05-A251B65533F1}">
      <dgm:prSet/>
      <dgm:spPr/>
      <dgm:t>
        <a:bodyPr/>
        <a:lstStyle/>
        <a:p>
          <a:endParaRPr lang="en-US"/>
        </a:p>
      </dgm:t>
    </dgm:pt>
    <dgm:pt modelId="{EEEE5EC4-63C0-47D3-83DD-9322687EEA9D}" type="sibTrans" cxnId="{4C655D53-E103-424F-AD05-A251B65533F1}">
      <dgm:prSet/>
      <dgm:spPr/>
      <dgm:t>
        <a:bodyPr/>
        <a:lstStyle/>
        <a:p>
          <a:endParaRPr lang="en-US"/>
        </a:p>
      </dgm:t>
    </dgm:pt>
    <dgm:pt modelId="{597B7C85-C794-4A3C-A138-B1A44CFB70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Their total Net Transaction value (the sum of all Credits minus the sum of all Debits) </a:t>
          </a:r>
          <a:endParaRPr lang="en-US"/>
        </a:p>
      </dgm:t>
    </dgm:pt>
    <dgm:pt modelId="{BCBF0A68-39B7-4456-9937-4DBE7CE6F03A}" type="parTrans" cxnId="{979E1B09-D279-4317-9C11-28184C5789E1}">
      <dgm:prSet/>
      <dgm:spPr/>
      <dgm:t>
        <a:bodyPr/>
        <a:lstStyle/>
        <a:p>
          <a:endParaRPr lang="en-US"/>
        </a:p>
      </dgm:t>
    </dgm:pt>
    <dgm:pt modelId="{CC8F6387-7E6F-45C3-9CA8-98E49E09C334}" type="sibTrans" cxnId="{979E1B09-D279-4317-9C11-28184C5789E1}">
      <dgm:prSet/>
      <dgm:spPr/>
      <dgm:t>
        <a:bodyPr/>
        <a:lstStyle/>
        <a:p>
          <a:endParaRPr lang="en-US"/>
        </a:p>
      </dgm:t>
    </dgm:pt>
    <dgm:pt modelId="{79DFB1B7-70B4-4089-B0E4-BD6BC88EA0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is </a:t>
          </a:r>
          <a:r>
            <a:rPr lang="en-US" b="1" i="0" baseline="0" dirty="0"/>
            <a:t>-36,162.67</a:t>
          </a:r>
          <a:r>
            <a:rPr lang="en-US" b="0" i="0" baseline="0" dirty="0"/>
            <a:t>.</a:t>
          </a:r>
          <a:endParaRPr lang="en-US" dirty="0"/>
        </a:p>
      </dgm:t>
    </dgm:pt>
    <dgm:pt modelId="{FD29BDDA-D8C5-46ED-B238-78DE2DDCB4F7}" type="parTrans" cxnId="{814A9421-1E1F-4107-B938-EFF893563336}">
      <dgm:prSet/>
      <dgm:spPr/>
      <dgm:t>
        <a:bodyPr/>
        <a:lstStyle/>
        <a:p>
          <a:endParaRPr lang="en-US"/>
        </a:p>
      </dgm:t>
    </dgm:pt>
    <dgm:pt modelId="{D636D619-64A1-424F-BD1A-3917F6DFA070}" type="sibTrans" cxnId="{814A9421-1E1F-4107-B938-EFF893563336}">
      <dgm:prSet/>
      <dgm:spPr/>
      <dgm:t>
        <a:bodyPr/>
        <a:lstStyle/>
        <a:p>
          <a:endParaRPr lang="en-US"/>
        </a:p>
      </dgm:t>
    </dgm:pt>
    <dgm:pt modelId="{5D508193-CBF0-474D-ABE7-26633C0BF3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This indicates that Michael Martinez has had the largest outflow of money compared to inflow in the recorded transaction data.</a:t>
          </a:r>
          <a:endParaRPr lang="en-US" dirty="0"/>
        </a:p>
      </dgm:t>
    </dgm:pt>
    <dgm:pt modelId="{86896E47-8599-43FD-8E40-39DCA67CD6FD}" type="parTrans" cxnId="{D0E2478E-297D-4297-91EF-037F8EA5DD44}">
      <dgm:prSet/>
      <dgm:spPr/>
      <dgm:t>
        <a:bodyPr/>
        <a:lstStyle/>
        <a:p>
          <a:endParaRPr lang="en-US"/>
        </a:p>
      </dgm:t>
    </dgm:pt>
    <dgm:pt modelId="{E2C4BBB0-9E09-4E76-947F-691DD51073E3}" type="sibTrans" cxnId="{D0E2478E-297D-4297-91EF-037F8EA5DD44}">
      <dgm:prSet/>
      <dgm:spPr/>
      <dgm:t>
        <a:bodyPr/>
        <a:lstStyle/>
        <a:p>
          <a:endParaRPr lang="en-US"/>
        </a:p>
      </dgm:t>
    </dgm:pt>
    <dgm:pt modelId="{72778D82-28A9-4804-847D-35AA3E627728}" type="pres">
      <dgm:prSet presAssocID="{64720F24-D270-43B7-95A0-B0A20E7CB090}" presName="root" presStyleCnt="0">
        <dgm:presLayoutVars>
          <dgm:dir/>
          <dgm:resizeHandles val="exact"/>
        </dgm:presLayoutVars>
      </dgm:prSet>
      <dgm:spPr/>
    </dgm:pt>
    <dgm:pt modelId="{CC6E472D-D556-4D3B-9830-2D618DEFAB5B}" type="pres">
      <dgm:prSet presAssocID="{C80BE9AF-CC38-490C-8D62-2938481389E4}" presName="compNode" presStyleCnt="0"/>
      <dgm:spPr/>
    </dgm:pt>
    <dgm:pt modelId="{FCF384F9-A76B-46E0-AC70-B7D9A891D53D}" type="pres">
      <dgm:prSet presAssocID="{C80BE9AF-CC38-490C-8D62-2938481389E4}" presName="bgRect" presStyleLbl="bgShp" presStyleIdx="0" presStyleCnt="5"/>
      <dgm:spPr>
        <a:solidFill>
          <a:schemeClr val="accent1"/>
        </a:solidFill>
        <a:ln>
          <a:solidFill>
            <a:schemeClr val="bg1"/>
          </a:solidFill>
        </a:ln>
      </dgm:spPr>
    </dgm:pt>
    <dgm:pt modelId="{30C5C12F-0FA1-405E-B9EF-83F76AE35A5B}" type="pres">
      <dgm:prSet presAssocID="{C80BE9AF-CC38-490C-8D62-2938481389E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9EC503FD-DCC7-4419-9780-8D2364CF3456}" type="pres">
      <dgm:prSet presAssocID="{C80BE9AF-CC38-490C-8D62-2938481389E4}" presName="spaceRect" presStyleCnt="0"/>
      <dgm:spPr/>
    </dgm:pt>
    <dgm:pt modelId="{66AFD4C6-8FBF-4D7C-B368-299A3CC8DE78}" type="pres">
      <dgm:prSet presAssocID="{C80BE9AF-CC38-490C-8D62-2938481389E4}" presName="parTx" presStyleLbl="revTx" presStyleIdx="0" presStyleCnt="5">
        <dgm:presLayoutVars>
          <dgm:chMax val="0"/>
          <dgm:chPref val="0"/>
        </dgm:presLayoutVars>
      </dgm:prSet>
      <dgm:spPr/>
    </dgm:pt>
    <dgm:pt modelId="{0F7F6034-29C0-45FD-9331-8BEE15989465}" type="pres">
      <dgm:prSet presAssocID="{644B04FF-F002-4FD4-BC5F-C789474BA618}" presName="sibTrans" presStyleCnt="0"/>
      <dgm:spPr/>
    </dgm:pt>
    <dgm:pt modelId="{02F33D71-BD59-4C2B-8312-00D060309BD5}" type="pres">
      <dgm:prSet presAssocID="{86C5DEA1-EDD3-4D70-B3BB-8BDDBFB39180}" presName="compNode" presStyleCnt="0"/>
      <dgm:spPr/>
    </dgm:pt>
    <dgm:pt modelId="{E9747AF2-0666-4901-AAAD-E8E46D623FBF}" type="pres">
      <dgm:prSet presAssocID="{86C5DEA1-EDD3-4D70-B3BB-8BDDBFB39180}" presName="bgRect" presStyleLbl="bgShp" presStyleIdx="1" presStyleCnt="5"/>
      <dgm:spPr>
        <a:solidFill>
          <a:schemeClr val="bg2"/>
        </a:solidFill>
      </dgm:spPr>
    </dgm:pt>
    <dgm:pt modelId="{D9533635-E9E7-44FB-A437-CD9D8BD513B7}" type="pres">
      <dgm:prSet presAssocID="{86C5DEA1-EDD3-4D70-B3BB-8BDDBFB391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2D03A2C-D561-460A-B216-29D2A7148732}" type="pres">
      <dgm:prSet presAssocID="{86C5DEA1-EDD3-4D70-B3BB-8BDDBFB39180}" presName="spaceRect" presStyleCnt="0"/>
      <dgm:spPr/>
    </dgm:pt>
    <dgm:pt modelId="{92054297-E373-4E72-BA09-7639E76CFB2F}" type="pres">
      <dgm:prSet presAssocID="{86C5DEA1-EDD3-4D70-B3BB-8BDDBFB39180}" presName="parTx" presStyleLbl="revTx" presStyleIdx="1" presStyleCnt="5">
        <dgm:presLayoutVars>
          <dgm:chMax val="0"/>
          <dgm:chPref val="0"/>
        </dgm:presLayoutVars>
      </dgm:prSet>
      <dgm:spPr/>
    </dgm:pt>
    <dgm:pt modelId="{C1CA9745-62E0-469A-894D-6C918BE8BE15}" type="pres">
      <dgm:prSet presAssocID="{EEEE5EC4-63C0-47D3-83DD-9322687EEA9D}" presName="sibTrans" presStyleCnt="0"/>
      <dgm:spPr/>
    </dgm:pt>
    <dgm:pt modelId="{D725FE3A-616D-4DC3-89EC-8EFAEFD661E4}" type="pres">
      <dgm:prSet presAssocID="{597B7C85-C794-4A3C-A138-B1A44CFB70D7}" presName="compNode" presStyleCnt="0"/>
      <dgm:spPr/>
    </dgm:pt>
    <dgm:pt modelId="{F75CD2E5-6CAF-481F-A837-2F1CA652DDCF}" type="pres">
      <dgm:prSet presAssocID="{597B7C85-C794-4A3C-A138-B1A44CFB70D7}" presName="bgRect" presStyleLbl="bgShp" presStyleIdx="2" presStyleCnt="5" custScaleX="100000" custScaleY="172029"/>
      <dgm:spPr>
        <a:solidFill>
          <a:schemeClr val="accent5"/>
        </a:solidFill>
      </dgm:spPr>
    </dgm:pt>
    <dgm:pt modelId="{9909DE65-E0F8-4ABE-9424-89B8B7EEA71E}" type="pres">
      <dgm:prSet presAssocID="{597B7C85-C794-4A3C-A138-B1A44CFB70D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07555906-55F9-40D4-8BD8-9E1310D4257B}" type="pres">
      <dgm:prSet presAssocID="{597B7C85-C794-4A3C-A138-B1A44CFB70D7}" presName="spaceRect" presStyleCnt="0"/>
      <dgm:spPr/>
    </dgm:pt>
    <dgm:pt modelId="{ABB9125E-6386-4DD0-889E-BF4D76752258}" type="pres">
      <dgm:prSet presAssocID="{597B7C85-C794-4A3C-A138-B1A44CFB70D7}" presName="parTx" presStyleLbl="revTx" presStyleIdx="2" presStyleCnt="5">
        <dgm:presLayoutVars>
          <dgm:chMax val="0"/>
          <dgm:chPref val="0"/>
        </dgm:presLayoutVars>
      </dgm:prSet>
      <dgm:spPr/>
    </dgm:pt>
    <dgm:pt modelId="{D15E552C-4CC7-4087-B521-6BC52B86402D}" type="pres">
      <dgm:prSet presAssocID="{CC8F6387-7E6F-45C3-9CA8-98E49E09C334}" presName="sibTrans" presStyleCnt="0"/>
      <dgm:spPr/>
    </dgm:pt>
    <dgm:pt modelId="{C81DBD7E-EF26-4563-983B-08ABC4859A3E}" type="pres">
      <dgm:prSet presAssocID="{79DFB1B7-70B4-4089-B0E4-BD6BC88EA0CC}" presName="compNode" presStyleCnt="0"/>
      <dgm:spPr/>
    </dgm:pt>
    <dgm:pt modelId="{C9364FAD-2BD7-4281-843C-8E5486763C2C}" type="pres">
      <dgm:prSet presAssocID="{79DFB1B7-70B4-4089-B0E4-BD6BC88EA0CC}" presName="bgRect" presStyleLbl="bgShp" presStyleIdx="3" presStyleCnt="5"/>
      <dgm:spPr>
        <a:solidFill>
          <a:schemeClr val="accent3"/>
        </a:solidFill>
      </dgm:spPr>
    </dgm:pt>
    <dgm:pt modelId="{7F34C39A-4C42-440A-A4AC-B75EBF1359DA}" type="pres">
      <dgm:prSet presAssocID="{79DFB1B7-70B4-4089-B0E4-BD6BC88EA0C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231AEAB8-11A3-456E-9407-51367CB20A8B}" type="pres">
      <dgm:prSet presAssocID="{79DFB1B7-70B4-4089-B0E4-BD6BC88EA0CC}" presName="spaceRect" presStyleCnt="0"/>
      <dgm:spPr/>
    </dgm:pt>
    <dgm:pt modelId="{20CB3A27-A7DD-4EE6-8497-D67641342585}" type="pres">
      <dgm:prSet presAssocID="{79DFB1B7-70B4-4089-B0E4-BD6BC88EA0CC}" presName="parTx" presStyleLbl="revTx" presStyleIdx="3" presStyleCnt="5">
        <dgm:presLayoutVars>
          <dgm:chMax val="0"/>
          <dgm:chPref val="0"/>
        </dgm:presLayoutVars>
      </dgm:prSet>
      <dgm:spPr/>
    </dgm:pt>
    <dgm:pt modelId="{D1EDB50D-41CC-40F3-B055-1AE60200571A}" type="pres">
      <dgm:prSet presAssocID="{D636D619-64A1-424F-BD1A-3917F6DFA070}" presName="sibTrans" presStyleCnt="0"/>
      <dgm:spPr/>
    </dgm:pt>
    <dgm:pt modelId="{90269689-D9DB-415C-B66C-45AB54C41902}" type="pres">
      <dgm:prSet presAssocID="{5D508193-CBF0-474D-ABE7-26633C0BF3B2}" presName="compNode" presStyleCnt="0"/>
      <dgm:spPr/>
    </dgm:pt>
    <dgm:pt modelId="{CF6944D1-157B-4F4C-BC34-A464B92BBBD5}" type="pres">
      <dgm:prSet presAssocID="{5D508193-CBF0-474D-ABE7-26633C0BF3B2}" presName="bgRect" presStyleLbl="bgShp" presStyleIdx="4" presStyleCnt="5" custScaleY="174203"/>
      <dgm:spPr>
        <a:solidFill>
          <a:schemeClr val="accent2">
            <a:lumMod val="60000"/>
            <a:lumOff val="40000"/>
          </a:schemeClr>
        </a:solidFill>
      </dgm:spPr>
    </dgm:pt>
    <dgm:pt modelId="{0A23630C-1D95-4B4F-8840-D0F7A9399B74}" type="pres">
      <dgm:prSet presAssocID="{5D508193-CBF0-474D-ABE7-26633C0BF3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6F25138-3A65-4773-918A-152D334C583E}" type="pres">
      <dgm:prSet presAssocID="{5D508193-CBF0-474D-ABE7-26633C0BF3B2}" presName="spaceRect" presStyleCnt="0"/>
      <dgm:spPr/>
    </dgm:pt>
    <dgm:pt modelId="{0914F74A-2402-48E2-B4CF-24484A753486}" type="pres">
      <dgm:prSet presAssocID="{5D508193-CBF0-474D-ABE7-26633C0BF3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9E1B09-D279-4317-9C11-28184C5789E1}" srcId="{64720F24-D270-43B7-95A0-B0A20E7CB090}" destId="{597B7C85-C794-4A3C-A138-B1A44CFB70D7}" srcOrd="2" destOrd="0" parTransId="{BCBF0A68-39B7-4456-9937-4DBE7CE6F03A}" sibTransId="{CC8F6387-7E6F-45C3-9CA8-98E49E09C334}"/>
    <dgm:cxn modelId="{B55DA90F-E56E-461B-A2EE-C97F00BE64B3}" type="presOf" srcId="{64720F24-D270-43B7-95A0-B0A20E7CB090}" destId="{72778D82-28A9-4804-847D-35AA3E627728}" srcOrd="0" destOrd="0" presId="urn:microsoft.com/office/officeart/2018/2/layout/IconVerticalSolidList"/>
    <dgm:cxn modelId="{814A9421-1E1F-4107-B938-EFF893563336}" srcId="{64720F24-D270-43B7-95A0-B0A20E7CB090}" destId="{79DFB1B7-70B4-4089-B0E4-BD6BC88EA0CC}" srcOrd="3" destOrd="0" parTransId="{FD29BDDA-D8C5-46ED-B238-78DE2DDCB4F7}" sibTransId="{D636D619-64A1-424F-BD1A-3917F6DFA070}"/>
    <dgm:cxn modelId="{540DE23B-C18D-498F-9E25-8FDE7529847C}" type="presOf" srcId="{C80BE9AF-CC38-490C-8D62-2938481389E4}" destId="{66AFD4C6-8FBF-4D7C-B368-299A3CC8DE78}" srcOrd="0" destOrd="0" presId="urn:microsoft.com/office/officeart/2018/2/layout/IconVerticalSolidList"/>
    <dgm:cxn modelId="{4C655D53-E103-424F-AD05-A251B65533F1}" srcId="{64720F24-D270-43B7-95A0-B0A20E7CB090}" destId="{86C5DEA1-EDD3-4D70-B3BB-8BDDBFB39180}" srcOrd="1" destOrd="0" parTransId="{5CC27065-033A-4ECB-8091-79B62341944A}" sibTransId="{EEEE5EC4-63C0-47D3-83DD-9322687EEA9D}"/>
    <dgm:cxn modelId="{9A6E8C59-8117-443E-864C-FA20CD8B30B5}" type="presOf" srcId="{79DFB1B7-70B4-4089-B0E4-BD6BC88EA0CC}" destId="{20CB3A27-A7DD-4EE6-8497-D67641342585}" srcOrd="0" destOrd="0" presId="urn:microsoft.com/office/officeart/2018/2/layout/IconVerticalSolidList"/>
    <dgm:cxn modelId="{EB40918B-953C-494D-903A-FF6384F6D18C}" type="presOf" srcId="{86C5DEA1-EDD3-4D70-B3BB-8BDDBFB39180}" destId="{92054297-E373-4E72-BA09-7639E76CFB2F}" srcOrd="0" destOrd="0" presId="urn:microsoft.com/office/officeart/2018/2/layout/IconVerticalSolidList"/>
    <dgm:cxn modelId="{D0E2478E-297D-4297-91EF-037F8EA5DD44}" srcId="{64720F24-D270-43B7-95A0-B0A20E7CB090}" destId="{5D508193-CBF0-474D-ABE7-26633C0BF3B2}" srcOrd="4" destOrd="0" parTransId="{86896E47-8599-43FD-8E40-39DCA67CD6FD}" sibTransId="{E2C4BBB0-9E09-4E76-947F-691DD51073E3}"/>
    <dgm:cxn modelId="{FAF78DA0-C391-4DF6-9DB8-FD27071848F5}" type="presOf" srcId="{597B7C85-C794-4A3C-A138-B1A44CFB70D7}" destId="{ABB9125E-6386-4DD0-889E-BF4D76752258}" srcOrd="0" destOrd="0" presId="urn:microsoft.com/office/officeart/2018/2/layout/IconVerticalSolidList"/>
    <dgm:cxn modelId="{7E138FC3-BDD7-4576-822F-4C024798B57F}" srcId="{64720F24-D270-43B7-95A0-B0A20E7CB090}" destId="{C80BE9AF-CC38-490C-8D62-2938481389E4}" srcOrd="0" destOrd="0" parTransId="{421F582B-3535-411F-9CC2-C5C35D9DA2DE}" sibTransId="{644B04FF-F002-4FD4-BC5F-C789474BA618}"/>
    <dgm:cxn modelId="{1B5802FC-7537-448D-8CFF-154B50CB35E4}" type="presOf" srcId="{5D508193-CBF0-474D-ABE7-26633C0BF3B2}" destId="{0914F74A-2402-48E2-B4CF-24484A753486}" srcOrd="0" destOrd="0" presId="urn:microsoft.com/office/officeart/2018/2/layout/IconVerticalSolidList"/>
    <dgm:cxn modelId="{22E0E435-DE72-4605-A2EF-96D315DD6672}" type="presParOf" srcId="{72778D82-28A9-4804-847D-35AA3E627728}" destId="{CC6E472D-D556-4D3B-9830-2D618DEFAB5B}" srcOrd="0" destOrd="0" presId="urn:microsoft.com/office/officeart/2018/2/layout/IconVerticalSolidList"/>
    <dgm:cxn modelId="{1E7A21C7-232C-4357-8E24-32A280E4529E}" type="presParOf" srcId="{CC6E472D-D556-4D3B-9830-2D618DEFAB5B}" destId="{FCF384F9-A76B-46E0-AC70-B7D9A891D53D}" srcOrd="0" destOrd="0" presId="urn:microsoft.com/office/officeart/2018/2/layout/IconVerticalSolidList"/>
    <dgm:cxn modelId="{4DA5B33F-DCFF-4264-ABA1-91FFF623B889}" type="presParOf" srcId="{CC6E472D-D556-4D3B-9830-2D618DEFAB5B}" destId="{30C5C12F-0FA1-405E-B9EF-83F76AE35A5B}" srcOrd="1" destOrd="0" presId="urn:microsoft.com/office/officeart/2018/2/layout/IconVerticalSolidList"/>
    <dgm:cxn modelId="{D9845BD7-B533-428C-AF1A-8FEAE8E2F5AC}" type="presParOf" srcId="{CC6E472D-D556-4D3B-9830-2D618DEFAB5B}" destId="{9EC503FD-DCC7-4419-9780-8D2364CF3456}" srcOrd="2" destOrd="0" presId="urn:microsoft.com/office/officeart/2018/2/layout/IconVerticalSolidList"/>
    <dgm:cxn modelId="{0DA0B515-88A0-4AA2-922F-04E54B56D419}" type="presParOf" srcId="{CC6E472D-D556-4D3B-9830-2D618DEFAB5B}" destId="{66AFD4C6-8FBF-4D7C-B368-299A3CC8DE78}" srcOrd="3" destOrd="0" presId="urn:microsoft.com/office/officeart/2018/2/layout/IconVerticalSolidList"/>
    <dgm:cxn modelId="{F88216AC-3439-462C-8D02-D5803AC1A7A2}" type="presParOf" srcId="{72778D82-28A9-4804-847D-35AA3E627728}" destId="{0F7F6034-29C0-45FD-9331-8BEE15989465}" srcOrd="1" destOrd="0" presId="urn:microsoft.com/office/officeart/2018/2/layout/IconVerticalSolidList"/>
    <dgm:cxn modelId="{25FB2AE6-352E-4FE6-8E31-C048F349CDCA}" type="presParOf" srcId="{72778D82-28A9-4804-847D-35AA3E627728}" destId="{02F33D71-BD59-4C2B-8312-00D060309BD5}" srcOrd="2" destOrd="0" presId="urn:microsoft.com/office/officeart/2018/2/layout/IconVerticalSolidList"/>
    <dgm:cxn modelId="{B226E2C1-8762-4D2E-974B-86685B5C36D5}" type="presParOf" srcId="{02F33D71-BD59-4C2B-8312-00D060309BD5}" destId="{E9747AF2-0666-4901-AAAD-E8E46D623FBF}" srcOrd="0" destOrd="0" presId="urn:microsoft.com/office/officeart/2018/2/layout/IconVerticalSolidList"/>
    <dgm:cxn modelId="{49E497AD-67B0-4AB6-8572-6A8F37CF50A8}" type="presParOf" srcId="{02F33D71-BD59-4C2B-8312-00D060309BD5}" destId="{D9533635-E9E7-44FB-A437-CD9D8BD513B7}" srcOrd="1" destOrd="0" presId="urn:microsoft.com/office/officeart/2018/2/layout/IconVerticalSolidList"/>
    <dgm:cxn modelId="{6A846858-13A8-4F76-BFD5-F33E07D7560A}" type="presParOf" srcId="{02F33D71-BD59-4C2B-8312-00D060309BD5}" destId="{42D03A2C-D561-460A-B216-29D2A7148732}" srcOrd="2" destOrd="0" presId="urn:microsoft.com/office/officeart/2018/2/layout/IconVerticalSolidList"/>
    <dgm:cxn modelId="{7DD5C413-56DD-410A-A9A0-2DC335BE5E66}" type="presParOf" srcId="{02F33D71-BD59-4C2B-8312-00D060309BD5}" destId="{92054297-E373-4E72-BA09-7639E76CFB2F}" srcOrd="3" destOrd="0" presId="urn:microsoft.com/office/officeart/2018/2/layout/IconVerticalSolidList"/>
    <dgm:cxn modelId="{6D535490-177D-4F03-A785-C6C4E790966F}" type="presParOf" srcId="{72778D82-28A9-4804-847D-35AA3E627728}" destId="{C1CA9745-62E0-469A-894D-6C918BE8BE15}" srcOrd="3" destOrd="0" presId="urn:microsoft.com/office/officeart/2018/2/layout/IconVerticalSolidList"/>
    <dgm:cxn modelId="{B2602A28-359F-4E74-ABB7-36919741D58C}" type="presParOf" srcId="{72778D82-28A9-4804-847D-35AA3E627728}" destId="{D725FE3A-616D-4DC3-89EC-8EFAEFD661E4}" srcOrd="4" destOrd="0" presId="urn:microsoft.com/office/officeart/2018/2/layout/IconVerticalSolidList"/>
    <dgm:cxn modelId="{58CBF2EF-3645-41CE-8CA6-FE2F17CE7793}" type="presParOf" srcId="{D725FE3A-616D-4DC3-89EC-8EFAEFD661E4}" destId="{F75CD2E5-6CAF-481F-A837-2F1CA652DDCF}" srcOrd="0" destOrd="0" presId="urn:microsoft.com/office/officeart/2018/2/layout/IconVerticalSolidList"/>
    <dgm:cxn modelId="{27FFC8FE-8491-439E-908D-C88CCE750E1F}" type="presParOf" srcId="{D725FE3A-616D-4DC3-89EC-8EFAEFD661E4}" destId="{9909DE65-E0F8-4ABE-9424-89B8B7EEA71E}" srcOrd="1" destOrd="0" presId="urn:microsoft.com/office/officeart/2018/2/layout/IconVerticalSolidList"/>
    <dgm:cxn modelId="{8DB61DB2-9C1A-4B93-9474-69B05360CB0C}" type="presParOf" srcId="{D725FE3A-616D-4DC3-89EC-8EFAEFD661E4}" destId="{07555906-55F9-40D4-8BD8-9E1310D4257B}" srcOrd="2" destOrd="0" presId="urn:microsoft.com/office/officeart/2018/2/layout/IconVerticalSolidList"/>
    <dgm:cxn modelId="{84746216-988A-453A-8AB0-31CCED106067}" type="presParOf" srcId="{D725FE3A-616D-4DC3-89EC-8EFAEFD661E4}" destId="{ABB9125E-6386-4DD0-889E-BF4D76752258}" srcOrd="3" destOrd="0" presId="urn:microsoft.com/office/officeart/2018/2/layout/IconVerticalSolidList"/>
    <dgm:cxn modelId="{0601DCA7-7B32-4697-9C9D-25739A7CD240}" type="presParOf" srcId="{72778D82-28A9-4804-847D-35AA3E627728}" destId="{D15E552C-4CC7-4087-B521-6BC52B86402D}" srcOrd="5" destOrd="0" presId="urn:microsoft.com/office/officeart/2018/2/layout/IconVerticalSolidList"/>
    <dgm:cxn modelId="{56D63FD8-693F-45EB-935F-01EDDF8EADBA}" type="presParOf" srcId="{72778D82-28A9-4804-847D-35AA3E627728}" destId="{C81DBD7E-EF26-4563-983B-08ABC4859A3E}" srcOrd="6" destOrd="0" presId="urn:microsoft.com/office/officeart/2018/2/layout/IconVerticalSolidList"/>
    <dgm:cxn modelId="{BF5A4035-88E6-45C4-AE29-E8C5CADD54C2}" type="presParOf" srcId="{C81DBD7E-EF26-4563-983B-08ABC4859A3E}" destId="{C9364FAD-2BD7-4281-843C-8E5486763C2C}" srcOrd="0" destOrd="0" presId="urn:microsoft.com/office/officeart/2018/2/layout/IconVerticalSolidList"/>
    <dgm:cxn modelId="{7B7E4FBA-330F-45DE-B6B2-F5DC2800ED7D}" type="presParOf" srcId="{C81DBD7E-EF26-4563-983B-08ABC4859A3E}" destId="{7F34C39A-4C42-440A-A4AC-B75EBF1359DA}" srcOrd="1" destOrd="0" presId="urn:microsoft.com/office/officeart/2018/2/layout/IconVerticalSolidList"/>
    <dgm:cxn modelId="{5E571EED-DDAB-4D1A-B6D5-FCD3D82B878C}" type="presParOf" srcId="{C81DBD7E-EF26-4563-983B-08ABC4859A3E}" destId="{231AEAB8-11A3-456E-9407-51367CB20A8B}" srcOrd="2" destOrd="0" presId="urn:microsoft.com/office/officeart/2018/2/layout/IconVerticalSolidList"/>
    <dgm:cxn modelId="{4A8AD64E-4D1D-48D2-B303-4DBE74AC1D76}" type="presParOf" srcId="{C81DBD7E-EF26-4563-983B-08ABC4859A3E}" destId="{20CB3A27-A7DD-4EE6-8497-D67641342585}" srcOrd="3" destOrd="0" presId="urn:microsoft.com/office/officeart/2018/2/layout/IconVerticalSolidList"/>
    <dgm:cxn modelId="{EEC57D6E-5189-411B-B956-769D2739B549}" type="presParOf" srcId="{72778D82-28A9-4804-847D-35AA3E627728}" destId="{D1EDB50D-41CC-40F3-B055-1AE60200571A}" srcOrd="7" destOrd="0" presId="urn:microsoft.com/office/officeart/2018/2/layout/IconVerticalSolidList"/>
    <dgm:cxn modelId="{C9E3C23F-B484-46BC-A7D3-73FE326DAB0B}" type="presParOf" srcId="{72778D82-28A9-4804-847D-35AA3E627728}" destId="{90269689-D9DB-415C-B66C-45AB54C41902}" srcOrd="8" destOrd="0" presId="urn:microsoft.com/office/officeart/2018/2/layout/IconVerticalSolidList"/>
    <dgm:cxn modelId="{88FAC45D-3FE7-4053-99FF-6E6A7B71F210}" type="presParOf" srcId="{90269689-D9DB-415C-B66C-45AB54C41902}" destId="{CF6944D1-157B-4F4C-BC34-A464B92BBBD5}" srcOrd="0" destOrd="0" presId="urn:microsoft.com/office/officeart/2018/2/layout/IconVerticalSolidList"/>
    <dgm:cxn modelId="{F0D58C16-87A9-4B44-A345-430F8FF0A236}" type="presParOf" srcId="{90269689-D9DB-415C-B66C-45AB54C41902}" destId="{0A23630C-1D95-4B4F-8840-D0F7A9399B74}" srcOrd="1" destOrd="0" presId="urn:microsoft.com/office/officeart/2018/2/layout/IconVerticalSolidList"/>
    <dgm:cxn modelId="{5C098205-420E-403F-99A9-8C60ADBBCC01}" type="presParOf" srcId="{90269689-D9DB-415C-B66C-45AB54C41902}" destId="{96F25138-3A65-4773-918A-152D334C583E}" srcOrd="2" destOrd="0" presId="urn:microsoft.com/office/officeart/2018/2/layout/IconVerticalSolidList"/>
    <dgm:cxn modelId="{EFEA0562-72CD-4361-80F4-A896FEF9F74A}" type="presParOf" srcId="{90269689-D9DB-415C-B66C-45AB54C41902}" destId="{0914F74A-2402-48E2-B4CF-24484A7534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CF5DB-91DC-4F73-8127-E49D69A3DB5C}">
      <dsp:nvSpPr>
        <dsp:cNvPr id="0" name=""/>
        <dsp:cNvSpPr/>
      </dsp:nvSpPr>
      <dsp:spPr>
        <a:xfrm>
          <a:off x="0" y="678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8BEB8-6F9C-4C4B-8F9A-C452C6BC8123}">
      <dsp:nvSpPr>
        <dsp:cNvPr id="0" name=""/>
        <dsp:cNvSpPr/>
      </dsp:nvSpPr>
      <dsp:spPr>
        <a:xfrm>
          <a:off x="480498" y="358074"/>
          <a:ext cx="873632" cy="873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F89E-F277-45DF-98DB-AF1786895E23}">
      <dsp:nvSpPr>
        <dsp:cNvPr id="0" name=""/>
        <dsp:cNvSpPr/>
      </dsp:nvSpPr>
      <dsp:spPr>
        <a:xfrm>
          <a:off x="1834628" y="678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Customer Name Normalization:</a:t>
          </a:r>
          <a:r>
            <a:rPr lang="en-US" sz="1400" kern="1200"/>
            <a:t> The Transaction Data's Customer Name field includes various honorifics (e.g., "Mr. Edgar Knight"), which must be stripped and standardized to ensure consistent matching.</a:t>
          </a:r>
        </a:p>
      </dsp:txBody>
      <dsp:txXfrm>
        <a:off x="1834628" y="678"/>
        <a:ext cx="4469100" cy="1588423"/>
      </dsp:txXfrm>
    </dsp:sp>
    <dsp:sp modelId="{9FBE1F0F-5574-434B-9CAB-6A05C3193D37}">
      <dsp:nvSpPr>
        <dsp:cNvPr id="0" name=""/>
        <dsp:cNvSpPr/>
      </dsp:nvSpPr>
      <dsp:spPr>
        <a:xfrm>
          <a:off x="0" y="1986207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4B020-1346-49E3-BA17-6263D66B325A}">
      <dsp:nvSpPr>
        <dsp:cNvPr id="0" name=""/>
        <dsp:cNvSpPr/>
      </dsp:nvSpPr>
      <dsp:spPr>
        <a:xfrm>
          <a:off x="480498" y="2343603"/>
          <a:ext cx="873632" cy="873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EF47E-BA2A-4A1C-A1BD-1AB968E89C01}">
      <dsp:nvSpPr>
        <dsp:cNvPr id="0" name=""/>
        <dsp:cNvSpPr/>
      </dsp:nvSpPr>
      <dsp:spPr>
        <a:xfrm>
          <a:off x="1834628" y="1986207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Unstructured Transaction Descriptions:</a:t>
          </a:r>
          <a:r>
            <a:rPr lang="en-US" sz="1400" kern="1200" dirty="0"/>
            <a:t> The Description field is free text (e.g., "Online Shopping", "Bonus Payment"). This raw data is unusable for effective dashboard filtering.</a:t>
          </a:r>
        </a:p>
      </dsp:txBody>
      <dsp:txXfrm>
        <a:off x="1834628" y="1986207"/>
        <a:ext cx="4469100" cy="1588423"/>
      </dsp:txXfrm>
    </dsp:sp>
    <dsp:sp modelId="{17AA2208-1583-49FD-A10A-5CA071FCE3DF}">
      <dsp:nvSpPr>
        <dsp:cNvPr id="0" name=""/>
        <dsp:cNvSpPr/>
      </dsp:nvSpPr>
      <dsp:spPr>
        <a:xfrm>
          <a:off x="0" y="3971736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D34AF-8896-450C-8611-28D470D8AB93}">
      <dsp:nvSpPr>
        <dsp:cNvPr id="0" name=""/>
        <dsp:cNvSpPr/>
      </dsp:nvSpPr>
      <dsp:spPr>
        <a:xfrm>
          <a:off x="480498" y="4329132"/>
          <a:ext cx="873632" cy="873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6722C-2DFA-451E-889B-73B9F86CD9C2}">
      <dsp:nvSpPr>
        <dsp:cNvPr id="0" name=""/>
        <dsp:cNvSpPr/>
      </dsp:nvSpPr>
      <dsp:spPr>
        <a:xfrm>
          <a:off x="1834628" y="3971736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Required Categorization:</a:t>
          </a:r>
          <a:r>
            <a:rPr lang="en-US" sz="1400" kern="1200"/>
            <a:t> The description text must be mapped to standardized categories (e.g., "Income," "Utility Bill," "Retail Spending") using either dictionary matching or basic Natural Language Processing (NLP).</a:t>
          </a:r>
        </a:p>
      </dsp:txBody>
      <dsp:txXfrm>
        <a:off x="1834628" y="3971736"/>
        <a:ext cx="4469100" cy="1588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911A5-6CB3-46C1-B4F6-EA45035B9CE8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Geographic Slicers:</a:t>
          </a:r>
          <a:r>
            <a:rPr lang="en-US" sz="1400" kern="1200"/>
            <a:t> The dashboard must include slicers for </a:t>
          </a:r>
          <a:r>
            <a:rPr lang="en-US" sz="1400" b="1" kern="1200"/>
            <a:t>Region Name</a:t>
          </a:r>
          <a:r>
            <a:rPr lang="en-US" sz="1400" kern="1200"/>
            <a:t>, </a:t>
          </a:r>
          <a:r>
            <a:rPr lang="en-US" sz="1400" b="1" kern="1200"/>
            <a:t>State Name</a:t>
          </a:r>
          <a:r>
            <a:rPr lang="en-US" sz="1400" kern="1200"/>
            <a:t>, and </a:t>
          </a:r>
          <a:r>
            <a:rPr lang="en-US" sz="1400" b="1" kern="1200"/>
            <a:t>City</a:t>
          </a:r>
          <a:r>
            <a:rPr lang="en-US" sz="1400" kern="1200"/>
            <a:t> to allow analysis of loan performance and transaction trends based on geographical location.</a:t>
          </a:r>
        </a:p>
      </dsp:txBody>
      <dsp:txXfrm>
        <a:off x="853" y="1681486"/>
        <a:ext cx="3457633" cy="2489496"/>
      </dsp:txXfrm>
    </dsp:sp>
    <dsp:sp modelId="{6142D23D-853B-474E-A832-39EFB78CD142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7D296C2C-34AB-45F2-8508-93C1C22F3964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Transaction Type and Method Slicers:</a:t>
          </a:r>
          <a:r>
            <a:rPr lang="en-US" sz="1400" kern="1200"/>
            <a:t> For the debit and credit dashboard, the primary slicers are </a:t>
          </a:r>
          <a:r>
            <a:rPr lang="en-US" sz="1400" b="1" kern="1200"/>
            <a:t>Transaction Type</a:t>
          </a:r>
          <a:r>
            <a:rPr lang="en-US" sz="1400" kern="1200"/>
            <a:t> ("Debit" vs. "Credit") and </a:t>
          </a:r>
          <a:r>
            <a:rPr lang="en-US" sz="1400" b="1" kern="1200"/>
            <a:t>Transaction Method</a:t>
          </a:r>
          <a:r>
            <a:rPr lang="en-US" sz="1400" kern="1200"/>
            <a:t> (e.g., "Bank Transfer," "Credit Card," "Debit Card") to isolate different types of financial movements.</a:t>
          </a:r>
        </a:p>
      </dsp:txBody>
      <dsp:txXfrm>
        <a:off x="3735097" y="1681486"/>
        <a:ext cx="3457633" cy="2489496"/>
      </dsp:txXfrm>
    </dsp:sp>
    <dsp:sp modelId="{0DE83C8F-1F7D-494D-8B65-434FEBE965AE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C904A59D-07A4-4E73-8D48-0DD1FE896598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Institution Parameters:</a:t>
          </a:r>
          <a:r>
            <a:rPr lang="en-US" sz="1400" kern="1200"/>
            <a:t> A slicer for </a:t>
          </a:r>
          <a:r>
            <a:rPr lang="en-US" sz="1400" b="1" kern="1200"/>
            <a:t>Bank Name</a:t>
          </a:r>
          <a:r>
            <a:rPr lang="en-US" sz="1400" kern="1200"/>
            <a:t> is used to compare the performance and client behavior across different financial institutions.</a:t>
          </a:r>
        </a:p>
      </dsp:txBody>
      <dsp:txXfrm>
        <a:off x="7469341" y="1681486"/>
        <a:ext cx="3457633" cy="2489496"/>
      </dsp:txXfrm>
    </dsp:sp>
    <dsp:sp modelId="{02DC188B-0511-4C53-B3CE-FA56233802D7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D07C8-AF0F-4516-BD96-6ECFF5C999D3}">
      <dsp:nvSpPr>
        <dsp:cNvPr id="0" name=""/>
        <dsp:cNvSpPr/>
      </dsp:nvSpPr>
      <dsp:spPr>
        <a:xfrm>
          <a:off x="858" y="234277"/>
          <a:ext cx="1830862" cy="1098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Calculated Field</a:t>
          </a:r>
        </a:p>
      </dsp:txBody>
      <dsp:txXfrm>
        <a:off x="33032" y="266451"/>
        <a:ext cx="1766514" cy="1034169"/>
      </dsp:txXfrm>
    </dsp:sp>
    <dsp:sp modelId="{11809D03-4FDE-457D-A60A-332861CDD452}">
      <dsp:nvSpPr>
        <dsp:cNvPr id="0" name=""/>
        <dsp:cNvSpPr/>
      </dsp:nvSpPr>
      <dsp:spPr>
        <a:xfrm>
          <a:off x="1992837" y="556509"/>
          <a:ext cx="388142" cy="4540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92837" y="647320"/>
        <a:ext cx="271699" cy="272431"/>
      </dsp:txXfrm>
    </dsp:sp>
    <dsp:sp modelId="{0D3DE025-4477-4D59-ACAD-71558A8CFB62}">
      <dsp:nvSpPr>
        <dsp:cNvPr id="0" name=""/>
        <dsp:cNvSpPr/>
      </dsp:nvSpPr>
      <dsp:spPr>
        <a:xfrm>
          <a:off x="2564066" y="234277"/>
          <a:ext cx="1830862" cy="1098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Risk Category = </a:t>
          </a:r>
        </a:p>
      </dsp:txBody>
      <dsp:txXfrm>
        <a:off x="2596240" y="266451"/>
        <a:ext cx="1766514" cy="1034169"/>
      </dsp:txXfrm>
    </dsp:sp>
    <dsp:sp modelId="{B517FE88-8DEE-439C-B815-F1DEEE7ED1C1}">
      <dsp:nvSpPr>
        <dsp:cNvPr id="0" name=""/>
        <dsp:cNvSpPr/>
      </dsp:nvSpPr>
      <dsp:spPr>
        <a:xfrm rot="7412239">
          <a:off x="2839443" y="1315117"/>
          <a:ext cx="274464" cy="4540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863205" y="1411765"/>
        <a:ext cx="272431" cy="192125"/>
      </dsp:txXfrm>
    </dsp:sp>
    <dsp:sp modelId="{CA15CE27-1664-4999-8D4B-D224DB700786}">
      <dsp:nvSpPr>
        <dsp:cNvPr id="0" name=""/>
        <dsp:cNvSpPr/>
      </dsp:nvSpPr>
      <dsp:spPr>
        <a:xfrm>
          <a:off x="1053952" y="1764442"/>
          <a:ext cx="2594753" cy="1442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CASE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WHEN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[Grade] IN ("A", "B", "C") 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THEN "Low Risk" 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ELSE 	"High Risk" 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/>
            <a:t>END</a:t>
          </a:r>
        </a:p>
      </dsp:txBody>
      <dsp:txXfrm>
        <a:off x="1096196" y="1806686"/>
        <a:ext cx="2510265" cy="1357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384F9-A76B-46E0-AC70-B7D9A891D53D}">
      <dsp:nvSpPr>
        <dsp:cNvPr id="0" name=""/>
        <dsp:cNvSpPr/>
      </dsp:nvSpPr>
      <dsp:spPr>
        <a:xfrm>
          <a:off x="0" y="100345"/>
          <a:ext cx="5315188" cy="447452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5C12F-0FA1-405E-B9EF-83F76AE35A5B}">
      <dsp:nvSpPr>
        <dsp:cNvPr id="0" name=""/>
        <dsp:cNvSpPr/>
      </dsp:nvSpPr>
      <dsp:spPr>
        <a:xfrm>
          <a:off x="135354" y="201022"/>
          <a:ext cx="246339" cy="246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FD4C6-8FBF-4D7C-B368-299A3CC8DE78}">
      <dsp:nvSpPr>
        <dsp:cNvPr id="0" name=""/>
        <dsp:cNvSpPr/>
      </dsp:nvSpPr>
      <dsp:spPr>
        <a:xfrm>
          <a:off x="517048" y="100345"/>
          <a:ext cx="4767083" cy="503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75" tIns="53275" rIns="53275" bIns="5327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The customer who has the </a:t>
          </a:r>
          <a:r>
            <a:rPr lang="en-US" sz="1400" b="1" i="0" kern="1200" baseline="0" dirty="0"/>
            <a:t>most negative net transaction</a:t>
          </a:r>
          <a:endParaRPr lang="en-US" sz="1400" kern="1200" dirty="0"/>
        </a:p>
      </dsp:txBody>
      <dsp:txXfrm>
        <a:off x="517048" y="100345"/>
        <a:ext cx="4767083" cy="503384"/>
      </dsp:txXfrm>
    </dsp:sp>
    <dsp:sp modelId="{E9747AF2-0666-4901-AAAD-E8E46D623FBF}">
      <dsp:nvSpPr>
        <dsp:cNvPr id="0" name=""/>
        <dsp:cNvSpPr/>
      </dsp:nvSpPr>
      <dsp:spPr>
        <a:xfrm>
          <a:off x="0" y="729576"/>
          <a:ext cx="5315188" cy="447452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33635-E9E7-44FB-A437-CD9D8BD513B7}">
      <dsp:nvSpPr>
        <dsp:cNvPr id="0" name=""/>
        <dsp:cNvSpPr/>
      </dsp:nvSpPr>
      <dsp:spPr>
        <a:xfrm>
          <a:off x="135354" y="830253"/>
          <a:ext cx="246339" cy="246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54297-E373-4E72-BA09-7639E76CFB2F}">
      <dsp:nvSpPr>
        <dsp:cNvPr id="0" name=""/>
        <dsp:cNvSpPr/>
      </dsp:nvSpPr>
      <dsp:spPr>
        <a:xfrm>
          <a:off x="517048" y="729576"/>
          <a:ext cx="4767083" cy="503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75" tIns="53275" rIns="53275" bIns="5327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is </a:t>
          </a:r>
          <a:r>
            <a:rPr lang="en-US" sz="1400" b="1" i="0" kern="1200" baseline="0"/>
            <a:t>Michael Martinez</a:t>
          </a:r>
          <a:r>
            <a:rPr lang="en-US" sz="1400" b="0" i="0" kern="1200" baseline="0"/>
            <a:t>.</a:t>
          </a:r>
          <a:endParaRPr lang="en-US" sz="1400" kern="1200"/>
        </a:p>
      </dsp:txBody>
      <dsp:txXfrm>
        <a:off x="517048" y="729576"/>
        <a:ext cx="4767083" cy="503384"/>
      </dsp:txXfrm>
    </dsp:sp>
    <dsp:sp modelId="{F75CD2E5-6CAF-481F-A837-2F1CA652DDCF}">
      <dsp:nvSpPr>
        <dsp:cNvPr id="0" name=""/>
        <dsp:cNvSpPr/>
      </dsp:nvSpPr>
      <dsp:spPr>
        <a:xfrm>
          <a:off x="0" y="1358807"/>
          <a:ext cx="5315188" cy="769748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9DE65-E0F8-4ABE-9424-89B8B7EEA71E}">
      <dsp:nvSpPr>
        <dsp:cNvPr id="0" name=""/>
        <dsp:cNvSpPr/>
      </dsp:nvSpPr>
      <dsp:spPr>
        <a:xfrm>
          <a:off x="135354" y="1620631"/>
          <a:ext cx="246339" cy="246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9125E-6386-4DD0-889E-BF4D76752258}">
      <dsp:nvSpPr>
        <dsp:cNvPr id="0" name=""/>
        <dsp:cNvSpPr/>
      </dsp:nvSpPr>
      <dsp:spPr>
        <a:xfrm>
          <a:off x="517048" y="1519955"/>
          <a:ext cx="4767083" cy="503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75" tIns="53275" rIns="53275" bIns="5327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Their total Net Transaction value (the sum of all Credits minus the sum of all Debits) </a:t>
          </a:r>
          <a:endParaRPr lang="en-US" sz="1400" kern="1200"/>
        </a:p>
      </dsp:txBody>
      <dsp:txXfrm>
        <a:off x="517048" y="1519955"/>
        <a:ext cx="4767083" cy="503384"/>
      </dsp:txXfrm>
    </dsp:sp>
    <dsp:sp modelId="{C9364FAD-2BD7-4281-843C-8E5486763C2C}">
      <dsp:nvSpPr>
        <dsp:cNvPr id="0" name=""/>
        <dsp:cNvSpPr/>
      </dsp:nvSpPr>
      <dsp:spPr>
        <a:xfrm>
          <a:off x="0" y="2254402"/>
          <a:ext cx="5315188" cy="447452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4C39A-4C42-440A-A4AC-B75EBF1359DA}">
      <dsp:nvSpPr>
        <dsp:cNvPr id="0" name=""/>
        <dsp:cNvSpPr/>
      </dsp:nvSpPr>
      <dsp:spPr>
        <a:xfrm>
          <a:off x="135354" y="2355079"/>
          <a:ext cx="246339" cy="246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B3A27-A7DD-4EE6-8497-D67641342585}">
      <dsp:nvSpPr>
        <dsp:cNvPr id="0" name=""/>
        <dsp:cNvSpPr/>
      </dsp:nvSpPr>
      <dsp:spPr>
        <a:xfrm>
          <a:off x="517048" y="2254402"/>
          <a:ext cx="4767083" cy="503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75" tIns="53275" rIns="53275" bIns="5327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is </a:t>
          </a:r>
          <a:r>
            <a:rPr lang="en-US" sz="1400" b="1" i="0" kern="1200" baseline="0" dirty="0"/>
            <a:t>-36,162.67</a:t>
          </a:r>
          <a:r>
            <a:rPr lang="en-US" sz="1400" b="0" i="0" kern="1200" baseline="0" dirty="0"/>
            <a:t>.</a:t>
          </a:r>
          <a:endParaRPr lang="en-US" sz="1400" kern="1200" dirty="0"/>
        </a:p>
      </dsp:txBody>
      <dsp:txXfrm>
        <a:off x="517048" y="2254402"/>
        <a:ext cx="4767083" cy="503384"/>
      </dsp:txXfrm>
    </dsp:sp>
    <dsp:sp modelId="{CF6944D1-157B-4F4C-BC34-A464B92BBBD5}">
      <dsp:nvSpPr>
        <dsp:cNvPr id="0" name=""/>
        <dsp:cNvSpPr/>
      </dsp:nvSpPr>
      <dsp:spPr>
        <a:xfrm>
          <a:off x="0" y="2883632"/>
          <a:ext cx="5315188" cy="779476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3630C-1D95-4B4F-8840-D0F7A9399B74}">
      <dsp:nvSpPr>
        <dsp:cNvPr id="0" name=""/>
        <dsp:cNvSpPr/>
      </dsp:nvSpPr>
      <dsp:spPr>
        <a:xfrm>
          <a:off x="135354" y="3150321"/>
          <a:ext cx="246339" cy="246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4F74A-2402-48E2-B4CF-24484A753486}">
      <dsp:nvSpPr>
        <dsp:cNvPr id="0" name=""/>
        <dsp:cNvSpPr/>
      </dsp:nvSpPr>
      <dsp:spPr>
        <a:xfrm>
          <a:off x="517048" y="3049644"/>
          <a:ext cx="4767083" cy="503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75" tIns="53275" rIns="53275" bIns="5327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This indicates that Michael Martinez has had the largest outflow of money compared to inflow in the recorded transaction data.</a:t>
          </a:r>
          <a:endParaRPr lang="en-US" sz="1400" kern="1200" dirty="0"/>
        </a:p>
      </dsp:txBody>
      <dsp:txXfrm>
        <a:off x="517048" y="3049644"/>
        <a:ext cx="4767083" cy="503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2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9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9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8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9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2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30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398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17570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488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63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307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18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3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13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C402-0715-9AB2-0EC4-9E25ECDED7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Bank Analytics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0AF0B-B0C2-85E0-997D-71C1107B8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287668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FA85-D8B6-16EA-7EDA-31CB168E0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173479"/>
            <a:ext cx="6598597" cy="2336483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Data to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38306-AE98-6C89-BCE7-F3C76AF2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803" y="3758499"/>
            <a:ext cx="6598597" cy="1741549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Overcoming Quality and Integration Challenges in Banking Analytics.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E6397A-6DBC-2D84-7963-0FFC349161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20" r="41446" b="1"/>
          <a:stretch>
            <a:fillRect/>
          </a:stretch>
        </p:blipFill>
        <p:spPr>
          <a:xfrm>
            <a:off x="1037820" y="896184"/>
            <a:ext cx="2569597" cy="5051526"/>
          </a:xfrm>
          <a:custGeom>
            <a:avLst/>
            <a:gdLst/>
            <a:ahLst/>
            <a:cxnLst/>
            <a:rect l="l" t="t" r="r" b="b"/>
            <a:pathLst>
              <a:path w="2569597" h="5051526">
                <a:moveTo>
                  <a:pt x="2525763" y="0"/>
                </a:moveTo>
                <a:lnTo>
                  <a:pt x="2569597" y="2214"/>
                </a:lnTo>
                <a:lnTo>
                  <a:pt x="2569597" y="5049313"/>
                </a:lnTo>
                <a:lnTo>
                  <a:pt x="2525763" y="5051526"/>
                </a:lnTo>
                <a:cubicBezTo>
                  <a:pt x="1130823" y="5051526"/>
                  <a:pt x="0" y="3920703"/>
                  <a:pt x="0" y="2525763"/>
                </a:cubicBezTo>
                <a:cubicBezTo>
                  <a:pt x="0" y="1130823"/>
                  <a:pt x="1130823" y="0"/>
                  <a:pt x="252576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90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8FACF22-F2D3-1FF1-C66E-ED425989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9" y="509286"/>
            <a:ext cx="5453803" cy="5613722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Introduction - Challenges in Banking Data</a:t>
            </a:r>
          </a:p>
          <a:p>
            <a:r>
              <a:rPr lang="en-US" sz="1900" b="1" dirty="0"/>
              <a:t>Goal:</a:t>
            </a:r>
            <a:r>
              <a:rPr lang="en-US" sz="1900" dirty="0"/>
              <a:t> Identify and solve data quality and integration challenges to build a reliable banking dashboard.</a:t>
            </a:r>
          </a:p>
          <a:p>
            <a:r>
              <a:rPr lang="en-US" sz="1900" dirty="0"/>
              <a:t>We are working with two core datasets: </a:t>
            </a:r>
            <a:r>
              <a:rPr lang="en-US" sz="1900" b="1" dirty="0"/>
              <a:t>Client &amp; Loan Data</a:t>
            </a:r>
            <a:r>
              <a:rPr lang="en-US" sz="1900" dirty="0"/>
              <a:t> (static context) and </a:t>
            </a:r>
            <a:r>
              <a:rPr lang="en-US" sz="1900" b="1" dirty="0"/>
              <a:t>Debit/Credit Transaction Data</a:t>
            </a:r>
            <a:r>
              <a:rPr lang="en-US" sz="1900" dirty="0"/>
              <a:t> (dynamic history).</a:t>
            </a:r>
          </a:p>
          <a:p>
            <a:r>
              <a:rPr lang="en-US" sz="1900" dirty="0"/>
              <a:t>The primary hurdles lie in data cleaning, standardization, and most critically, </a:t>
            </a:r>
            <a:r>
              <a:rPr lang="en-US" sz="1900" b="1" dirty="0"/>
              <a:t>integrating</a:t>
            </a:r>
            <a:r>
              <a:rPr lang="en-US" sz="1900" dirty="0"/>
              <a:t> the two separate files.</a:t>
            </a:r>
          </a:p>
          <a:p>
            <a:endParaRPr lang="en-US" sz="1900" dirty="0"/>
          </a:p>
        </p:txBody>
      </p:sp>
      <p:pic>
        <p:nvPicPr>
          <p:cNvPr id="15" name="Picture 14" descr="A digital stock market graph">
            <a:extLst>
              <a:ext uri="{FF2B5EF4-FFF2-40B4-BE49-F238E27FC236}">
                <a16:creationId xmlns:a16="http://schemas.microsoft.com/office/drawing/2014/main" id="{82E5B050-11CA-03D0-6F98-62BE8611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44" r="19743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0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6111-BD57-84E5-B19D-EED3A604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Data Cleaning Challenges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421B-43AE-E39E-3F22-2D011C8C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65" y="1747777"/>
            <a:ext cx="6504972" cy="4398379"/>
          </a:xfrm>
        </p:spPr>
        <p:txBody>
          <a:bodyPr anchor="t">
            <a:normAutofit/>
          </a:bodyPr>
          <a:lstStyle/>
          <a:p>
            <a:r>
              <a:rPr lang="en-US" sz="1600" b="1" dirty="0"/>
              <a:t>Duplicate and Blank Headers:</a:t>
            </a:r>
            <a:r>
              <a:rPr lang="en-US" sz="1600" dirty="0"/>
              <a:t> The Client Data has redundant column names (State </a:t>
            </a:r>
            <a:r>
              <a:rPr lang="en-US" sz="1600" dirty="0" err="1"/>
              <a:t>Abbr</a:t>
            </a:r>
            <a:r>
              <a:rPr lang="en-US" sz="1600" dirty="0"/>
              <a:t>) and an unnamed column, complicating the initial data load.</a:t>
            </a:r>
          </a:p>
          <a:p>
            <a:r>
              <a:rPr lang="en-US" sz="1600" b="1" dirty="0"/>
              <a:t>Extreme Sparsity:</a:t>
            </a:r>
            <a:r>
              <a:rPr lang="en-US" sz="1600" dirty="0"/>
              <a:t> The trailing rows in the Client Data contain extensive empty cells, which can severely skew any aggregate statistics if not properly handled.</a:t>
            </a:r>
          </a:p>
          <a:p>
            <a:r>
              <a:rPr lang="en-US" sz="1600" b="1" dirty="0"/>
              <a:t>Inconsistent Date Formats:</a:t>
            </a:r>
            <a:r>
              <a:rPr lang="en-US" sz="1600" dirty="0"/>
              <a:t> Date fields show mixed structures (e.g., MM/DD/YYYY and MM/DD/YYYY H:MM), requiring a mandatory step to convert them into a standardized datetime object for time-series analysis.</a:t>
            </a:r>
          </a:p>
          <a:p>
            <a:r>
              <a:rPr lang="en-US" sz="1600" b="1" dirty="0"/>
              <a:t>Binned Categorical Data:</a:t>
            </a:r>
            <a:r>
              <a:rPr lang="en-US" sz="1600" dirty="0"/>
              <a:t> The Age column is stored as a range (e.g., "36-45") instead of a specific numerical value, which limits detailed correlation and regression analysis.</a:t>
            </a:r>
          </a:p>
          <a:p>
            <a:endParaRPr lang="en-US" sz="1600" dirty="0"/>
          </a:p>
        </p:txBody>
      </p:sp>
      <p:pic>
        <p:nvPicPr>
          <p:cNvPr id="5" name="Picture 4" descr="Green and yellow layers">
            <a:extLst>
              <a:ext uri="{FF2B5EF4-FFF2-40B4-BE49-F238E27FC236}">
                <a16:creationId xmlns:a16="http://schemas.microsoft.com/office/drawing/2014/main" id="{8FADDE2C-5958-9A1C-ECFE-1E3279F487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21" r="16674" b="-1"/>
          <a:stretch>
            <a:fillRect/>
          </a:stretch>
        </p:blipFill>
        <p:spPr>
          <a:xfrm>
            <a:off x="7160753" y="909081"/>
            <a:ext cx="4000957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181F-ABA9-1E58-2928-853AC8AE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3" y="423548"/>
            <a:ext cx="5203784" cy="2250204"/>
          </a:xfrm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Data Cleaning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550E90-89F5-E8E4-79C9-C134A4516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432431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48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BA01-3035-BDF8-A371-1463013A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Dashboard Parameters and Slicers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79F012-46A6-9711-B1E9-CC130CFB7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8609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6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0E6E-96CC-E11D-31F9-CAB9EF97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Power  BI Dashboard: Summary</a:t>
            </a:r>
          </a:p>
        </p:txBody>
      </p:sp>
      <p:pic>
        <p:nvPicPr>
          <p:cNvPr id="14" name="Content Placeholder 13" descr="A screenshot of a computer">
            <a:extLst>
              <a:ext uri="{FF2B5EF4-FFF2-40B4-BE49-F238E27FC236}">
                <a16:creationId xmlns:a16="http://schemas.microsoft.com/office/drawing/2014/main" id="{7025D68B-025F-2E76-E92A-A44421410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265"/>
          <a:stretch>
            <a:fillRect/>
          </a:stretch>
        </p:blipFill>
        <p:spPr>
          <a:xfrm>
            <a:off x="517142" y="1275354"/>
            <a:ext cx="5462168" cy="3144246"/>
          </a:xfrm>
          <a:prstGeom prst="rect">
            <a:avLst/>
          </a:prstGeom>
        </p:spPr>
      </p:pic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DB3D303A-D3D9-3F19-C3F7-06A215128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" r="-1" b="16680"/>
          <a:stretch>
            <a:fillRect/>
          </a:stretch>
        </p:blipFill>
        <p:spPr>
          <a:xfrm>
            <a:off x="6207318" y="1275355"/>
            <a:ext cx="5462168" cy="31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7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4330-A735-2B47-7074-12EC33AE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Tableau Dashboard:  Summary</a:t>
            </a:r>
          </a:p>
        </p:txBody>
      </p:sp>
      <p:pic>
        <p:nvPicPr>
          <p:cNvPr id="13" name="Content Placeholder 12" descr="A screenshot of a computer">
            <a:extLst>
              <a:ext uri="{FF2B5EF4-FFF2-40B4-BE49-F238E27FC236}">
                <a16:creationId xmlns:a16="http://schemas.microsoft.com/office/drawing/2014/main" id="{EE009D92-3F29-2BE2-F3CF-FFC05A9CF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17" y="942853"/>
            <a:ext cx="5782417" cy="3727118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019CFA-2E06-F4DF-3454-99BE01EA5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2" b="3"/>
          <a:stretch>
            <a:fillRect/>
          </a:stretch>
        </p:blipFill>
        <p:spPr>
          <a:xfrm>
            <a:off x="202264" y="942853"/>
            <a:ext cx="5782417" cy="38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2E62-2F74-5704-7787-94268FFE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300" dirty="0">
                <a:solidFill>
                  <a:schemeClr val="tx2"/>
                </a:solidFill>
              </a:rPr>
            </a:br>
            <a:r>
              <a:rPr lang="en-US" sz="3300" dirty="0">
                <a:solidFill>
                  <a:schemeClr val="tx2"/>
                </a:solidFill>
              </a:rPr>
              <a:t>Data Categorization: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9436D-44D1-F4BD-D726-D4F09F4D3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1. Categorization of Transaction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EB9F0-AA0F-494D-5F5B-D6139845CA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make the unstructured Description field useful for analysis and filtering, the transactional records were categorized into three distinct, high-level groups, transforming detailed text into actionable categorical data for dashboard metrics.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E9555-0DFA-D2E3-205E-C207B077E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2. Loan Risk Categorization (By Credit Grade)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AB59C66F-BD6A-127D-1EF4-2A861C76365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272231426"/>
              </p:ext>
            </p:extLst>
          </p:nvPr>
        </p:nvGraphicFramePr>
        <p:xfrm>
          <a:off x="5654675" y="2514600"/>
          <a:ext cx="4395788" cy="3741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89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A84E-39F1-D3BA-B915-0AF544A9C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103170"/>
            <a:ext cx="5835668" cy="1596487"/>
          </a:xfrm>
        </p:spPr>
        <p:txBody>
          <a:bodyPr anchor="b">
            <a:normAutofit fontScale="90000"/>
          </a:bodyPr>
          <a:lstStyle/>
          <a:p>
            <a:r>
              <a:rPr lang="en-US" sz="3700" dirty="0"/>
              <a:t>Customers having negative Net Transactions:</a:t>
            </a:r>
          </a:p>
        </p:txBody>
      </p:sp>
      <p:graphicFrame>
        <p:nvGraphicFramePr>
          <p:cNvPr id="53" name="Rectangle 1">
            <a:extLst>
              <a:ext uri="{FF2B5EF4-FFF2-40B4-BE49-F238E27FC236}">
                <a16:creationId xmlns:a16="http://schemas.microsoft.com/office/drawing/2014/main" id="{1AA0F0F0-56D7-9065-3673-5D4E06164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46449"/>
              </p:ext>
            </p:extLst>
          </p:nvPr>
        </p:nvGraphicFramePr>
        <p:xfrm>
          <a:off x="780811" y="2699657"/>
          <a:ext cx="5315189" cy="3763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 descr="A group of numbers and text&#10;&#10;AI-generated content may be incorrect.">
            <a:extLst>
              <a:ext uri="{FF2B5EF4-FFF2-40B4-BE49-F238E27FC236}">
                <a16:creationId xmlns:a16="http://schemas.microsoft.com/office/drawing/2014/main" id="{D39C776D-8C5D-41C5-F980-02EC2742F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647605"/>
            <a:ext cx="4170530" cy="3594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FA9046-3268-74DD-70D0-97DD97F79CE7}"/>
              </a:ext>
            </a:extLst>
          </p:cNvPr>
          <p:cNvSpPr txBox="1"/>
          <p:nvPr/>
        </p:nvSpPr>
        <p:spPr>
          <a:xfrm>
            <a:off x="379476" y="272173"/>
            <a:ext cx="5323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Key Insights:</a:t>
            </a:r>
          </a:p>
        </p:txBody>
      </p:sp>
    </p:spTree>
    <p:extLst>
      <p:ext uri="{BB962C8B-B14F-4D97-AF65-F5344CB8AC3E}">
        <p14:creationId xmlns:p14="http://schemas.microsoft.com/office/powerpoint/2010/main" val="84483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s and plots layered on a blue digital screen">
            <a:extLst>
              <a:ext uri="{FF2B5EF4-FFF2-40B4-BE49-F238E27FC236}">
                <a16:creationId xmlns:a16="http://schemas.microsoft.com/office/drawing/2014/main" id="{3EFEB337-441F-6307-4BB3-BA738596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" r="13808" b="8726"/>
          <a:stretch>
            <a:fillRect/>
          </a:stretch>
        </p:blipFill>
        <p:spPr>
          <a:xfrm>
            <a:off x="6019800" y="10"/>
            <a:ext cx="61722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8997C3-D4EE-E67D-568A-26C5EA8D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Bank Wise Net Transaction: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D3119C-68D8-E76A-55BA-A9ACB34C4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561" y="1052539"/>
            <a:ext cx="5359295" cy="41726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Punjab National Bank - Overall Negative Flow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effectLst/>
                <a:latin typeface="Google Sans Text"/>
              </a:rPr>
              <a:t>Overall Performance (Total Net Transaction):</a:t>
            </a:r>
            <a:endParaRPr kumimoji="0" lang="en-US" altLang="en-US" b="0" i="0" u="sng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PNB bank has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overall negative Net Transaction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balance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-897,174.48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This indicates that, across all branches and customers, the total outflow (Debit) from PNB accounts is significantly higher than the total inflow (Credit).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This negative flow suggests a general trend of customers withdrawing more or receiving fewer deposits/repayments compared to their spending.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9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86D0-6A47-53A7-963F-332548AE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712" y="2400475"/>
            <a:ext cx="9142288" cy="2068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Accept">
            <a:extLst>
              <a:ext uri="{FF2B5EF4-FFF2-40B4-BE49-F238E27FC236}">
                <a16:creationId xmlns:a16="http://schemas.microsoft.com/office/drawing/2014/main" id="{B2B6AA50-6063-7428-750A-C1A156A7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8070" y="1133637"/>
            <a:ext cx="1075860" cy="10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7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133</TotalTime>
  <Words>697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Google Sans</vt:lpstr>
      <vt:lpstr>Google Sans Text</vt:lpstr>
      <vt:lpstr>Wingdings 3</vt:lpstr>
      <vt:lpstr>Ion</vt:lpstr>
      <vt:lpstr>Bank Analytics Project </vt:lpstr>
      <vt:lpstr>Data to Dashboard</vt:lpstr>
      <vt:lpstr>PowerPoint Presentation</vt:lpstr>
      <vt:lpstr>Data Cleaning Challenges </vt:lpstr>
      <vt:lpstr>Data Cleaning Challenges</vt:lpstr>
      <vt:lpstr>Dashboard Parameters and Slicers</vt:lpstr>
      <vt:lpstr>Power  BI Dashboard: Summary</vt:lpstr>
      <vt:lpstr>Tableau Dashboard:  Summary</vt:lpstr>
      <vt:lpstr> Data Categorization:</vt:lpstr>
      <vt:lpstr>Customers having negative Net Transactions:</vt:lpstr>
      <vt:lpstr>Bank Wise Net Transaction: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Rucha Vaidya</dc:creator>
  <cp:lastModifiedBy>Excel R</cp:lastModifiedBy>
  <cp:revision>3</cp:revision>
  <dcterms:created xsi:type="dcterms:W3CDTF">2025-10-22T14:10:26Z</dcterms:created>
  <dcterms:modified xsi:type="dcterms:W3CDTF">2025-10-24T09:20:58Z</dcterms:modified>
</cp:coreProperties>
</file>